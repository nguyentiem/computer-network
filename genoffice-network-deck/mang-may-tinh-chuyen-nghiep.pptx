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31"/>
    <p:sldId id="257" r:id="rId3"/>
    <p:sldId id="258" r:id="rId4"/>
    <p:sldId id="259" r:id="rId5"/>
    <p:sldId id="260" r:id="rId6"/>
    <p:sldId id="261" r:id="rId7"/>
    <p:sldId id="262" r:id="rId8"/>
    <p:sldId id="286" r:id="rId32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3181B94-18B1-4119-AC35-016F6E406D92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TỔNG QUAN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FC4D13A-5685-43DE-B92F-4512F69ED699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Một request, nhiều quyết định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1E58E76-00C6-4865-AB4D-E64C57EC34DA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13EB355-E9A0-421A-B850-7E1A67B3B9B0}"/>
              </a:ext>
            </a:extLst>
          </p:cNvPr>
          <p:cNvSpPr txBox="1"/>
          <p:nvPr/>
        </p:nvSpPr>
        <p:spPr>
          <a:xfrm>
            <a:off x="723900" y="1657350"/>
            <a:ext cx="2190750" cy="13335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7900" b="1">
                <a:solidFill>
                  <a:srgbClr val="087E79"/>
                </a:solidFill>
                <a:latin typeface="Cambria"/>
                <a:ea typeface="Cambria"/>
              </a:rPr>
              <a:t>7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3DBCE9-731A-49C3-9BF0-E411E38DAD14}"/>
              </a:ext>
            </a:extLst>
          </p:cNvPr>
          <p:cNvSpPr txBox="1"/>
          <p:nvPr/>
        </p:nvSpPr>
        <p:spPr>
          <a:xfrm>
            <a:off x="781050" y="3048000"/>
            <a:ext cx="2209800" cy="3333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72F3C"/>
                </a:solidFill>
                <a:latin typeface="Arial"/>
                <a:ea typeface="Arial"/>
              </a:rPr>
              <a:t>tầng OSI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2CB2E6E-07BE-49DE-8070-1479AE678874}"/>
              </a:ext>
            </a:extLst>
          </p:cNvPr>
          <p:cNvSpPr txBox="1"/>
          <p:nvPr/>
        </p:nvSpPr>
        <p:spPr>
          <a:xfrm>
            <a:off x="3667125" y="1657350"/>
            <a:ext cx="2190750" cy="13335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7900" b="1">
                <a:solidFill>
                  <a:srgbClr val="087E79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04B826F-7428-4E98-B5CC-4954D6AD5A5E}"/>
              </a:ext>
            </a:extLst>
          </p:cNvPr>
          <p:cNvSpPr txBox="1"/>
          <p:nvPr/>
        </p:nvSpPr>
        <p:spPr>
          <a:xfrm>
            <a:off x="3714750" y="3048000"/>
            <a:ext cx="2476500" cy="3333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72F3C"/>
                </a:solidFill>
                <a:latin typeface="Arial"/>
                <a:ea typeface="Arial"/>
              </a:rPr>
              <a:t>định danh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90C1E81-00ED-4B7D-B734-6E92CA6CD16F}"/>
              </a:ext>
            </a:extLst>
          </p:cNvPr>
          <p:cNvSpPr txBox="1"/>
          <p:nvPr/>
        </p:nvSpPr>
        <p:spPr>
          <a:xfrm>
            <a:off x="7067550" y="1657350"/>
            <a:ext cx="2190750" cy="13335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7900" b="1">
                <a:solidFill>
                  <a:srgbClr val="087E79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C4974F0-0EAD-4723-AB12-DA46D33A58FC}"/>
              </a:ext>
            </a:extLst>
          </p:cNvPr>
          <p:cNvSpPr txBox="1"/>
          <p:nvPr/>
        </p:nvSpPr>
        <p:spPr>
          <a:xfrm>
            <a:off x="7096125" y="3048000"/>
            <a:ext cx="2762250" cy="3333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72F3C"/>
                </a:solidFill>
                <a:latin typeface="Arial"/>
                <a:ea typeface="Arial"/>
              </a:rPr>
              <a:t>hành trình</a:t>
            </a:r>
          </a:p>
        </p:txBody>
      </p:sp>
      <p:cxnSp>
        <p:nvCxnSpPr>
          <p:cNvPr id="12" name="Straight Connector 12">
            <a:extLst>
              <a:ext uri="{FF2B5EF4-FFF2-40B4-BE49-F238E27FC236}">
                <a16:creationId xmlns:a16="http://schemas.microsoft.com/office/drawing/2014/main" id="{CFE19C84-6E4C-46E6-94C8-3F9A70F39063}"/>
              </a:ext>
            </a:extLst>
          </p:cNvPr>
          <p:cNvCxnSpPr/>
          <p:nvPr/>
        </p:nvCxnSpPr>
        <p:spPr>
          <a:xfrm>
            <a:off x="838200" y="4524375"/>
            <a:ext cx="10191750" cy="9525"/>
          </a:xfrm>
          <a:prstGeom prst="line">
            <a:avLst/>
          </a:prstGeom>
          <a:ln w="38100" cap="flat">
            <a:solidFill>
              <a:srgbClr val="CDDDE0"/>
            </a:solidFill>
          </a:ln>
        </p:spPr>
      </p:cxnSp>
      <p:sp>
        <p:nvSpPr>
          <p:cNvPr id="13" name="Shape 13">
            <a:extLst>
              <a:ext uri="{FF2B5EF4-FFF2-40B4-BE49-F238E27FC236}">
                <a16:creationId xmlns:a16="http://schemas.microsoft.com/office/drawing/2014/main" id="{63CE8ACD-C365-468C-81EA-BA11C0D9C42E}"/>
              </a:ext>
            </a:extLst>
          </p:cNvPr>
          <p:cNvSpPr/>
          <p:nvPr/>
        </p:nvSpPr>
        <p:spPr>
          <a:xfrm>
            <a:off x="819150" y="4343400"/>
            <a:ext cx="257175" cy="257175"/>
          </a:xfrm>
          <a:prstGeom prst="roundRect">
            <a:avLst/>
          </a:prstGeom>
          <a:solidFill>
            <a:srgbClr val="087E7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80DF163-02CA-432C-9E4B-D47CDB8F2254}"/>
              </a:ext>
            </a:extLst>
          </p:cNvPr>
          <p:cNvSpPr txBox="1"/>
          <p:nvPr/>
        </p:nvSpPr>
        <p:spPr>
          <a:xfrm>
            <a:off x="704850" y="4810125"/>
            <a:ext cx="2143125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72F3C"/>
                </a:solidFill>
                <a:latin typeface="Arial"/>
                <a:ea typeface="Arial"/>
              </a:rPr>
              <a:t>mô hình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2CE00753-DA3B-4FBE-8770-8FC10C29B7BC}"/>
              </a:ext>
            </a:extLst>
          </p:cNvPr>
          <p:cNvSpPr/>
          <p:nvPr/>
        </p:nvSpPr>
        <p:spPr>
          <a:xfrm>
            <a:off x="3333750" y="4343400"/>
            <a:ext cx="257175" cy="257175"/>
          </a:xfrm>
          <a:prstGeom prst="roundRect">
            <a:avLst/>
          </a:prstGeom>
          <a:solidFill>
            <a:srgbClr val="087E7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95CDD98-C42B-4BF2-954E-01156FF10915}"/>
              </a:ext>
            </a:extLst>
          </p:cNvPr>
          <p:cNvSpPr txBox="1"/>
          <p:nvPr/>
        </p:nvSpPr>
        <p:spPr>
          <a:xfrm>
            <a:off x="3219450" y="4810125"/>
            <a:ext cx="2143125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72F3C"/>
                </a:solidFill>
                <a:latin typeface="Arial"/>
                <a:ea typeface="Arial"/>
              </a:rPr>
              <a:t>interface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30DCE739-8D8F-41D1-82AA-F2303FD6B1CE}"/>
              </a:ext>
            </a:extLst>
          </p:cNvPr>
          <p:cNvSpPr/>
          <p:nvPr/>
        </p:nvSpPr>
        <p:spPr>
          <a:xfrm>
            <a:off x="5857875" y="4343400"/>
            <a:ext cx="257175" cy="257175"/>
          </a:xfrm>
          <a:prstGeom prst="roundRect">
            <a:avLst/>
          </a:prstGeom>
          <a:solidFill>
            <a:srgbClr val="087E7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3B22197-90E7-4AA4-BA9E-376C5484CFD9}"/>
              </a:ext>
            </a:extLst>
          </p:cNvPr>
          <p:cNvSpPr txBox="1"/>
          <p:nvPr/>
        </p:nvSpPr>
        <p:spPr>
          <a:xfrm>
            <a:off x="5743575" y="4810125"/>
            <a:ext cx="2143125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72F3C"/>
                </a:solidFill>
                <a:latin typeface="Arial"/>
                <a:ea typeface="Arial"/>
              </a:rPr>
              <a:t>gói tin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1C67E4D4-BD0B-4924-B8D5-7F31F4CF4620}"/>
              </a:ext>
            </a:extLst>
          </p:cNvPr>
          <p:cNvSpPr/>
          <p:nvPr/>
        </p:nvSpPr>
        <p:spPr>
          <a:xfrm>
            <a:off x="8382000" y="4343400"/>
            <a:ext cx="257175" cy="257175"/>
          </a:xfrm>
          <a:prstGeom prst="roundRect">
            <a:avLst/>
          </a:prstGeom>
          <a:solidFill>
            <a:srgbClr val="087E7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E2EED4C-28E5-4472-AEFD-20AB7668690E}"/>
              </a:ext>
            </a:extLst>
          </p:cNvPr>
          <p:cNvSpPr txBox="1"/>
          <p:nvPr/>
        </p:nvSpPr>
        <p:spPr>
          <a:xfrm>
            <a:off x="8267700" y="4810125"/>
            <a:ext cx="2143125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72F3C"/>
                </a:solidFill>
                <a:latin typeface="Arial"/>
                <a:ea typeface="Arial"/>
              </a:rPr>
              <a:t>NAT + demo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34FCD3A-0C42-4C49-AF1F-2FAC640E3DE7}"/>
              </a:ext>
            </a:extLst>
          </p:cNvPr>
          <p:cNvSpPr txBox="1"/>
          <p:nvPr/>
        </p:nvSpPr>
        <p:spPr>
          <a:xfrm>
            <a:off x="762000" y="5753100"/>
            <a:ext cx="10096500" cy="3619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>
                <a:solidFill>
                  <a:srgbClr val="5F7580"/>
                </a:solidFill>
                <a:latin typeface="Arial"/>
                <a:ea typeface="Arial"/>
              </a:rPr>
              <a:t>Câu hỏi dẫn đường: server thấy địa chỉ nào của client?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FF575CC-239F-41AC-8709-266905EE4DFA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TỔNG QUAN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715C20C-97B4-4E54-9B8E-E1B1AE38D6CD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Ai làm việc gì trên đường truyền?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F1198FB-1836-46B0-B9A4-E8EEC5BDDCA3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5B2E7C5-1B38-4E54-A328-4F68E94ADA61}"/>
              </a:ext>
            </a:extLst>
          </p:cNvPr>
          <p:cNvSpPr/>
          <p:nvPr/>
        </p:nvSpPr>
        <p:spPr>
          <a:xfrm>
            <a:off x="619125" y="1962150"/>
            <a:ext cx="1714500" cy="165735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3DCF63D-F882-47F2-8322-605C50A024F0}"/>
              </a:ext>
            </a:extLst>
          </p:cNvPr>
          <p:cNvSpPr txBox="1"/>
          <p:nvPr/>
        </p:nvSpPr>
        <p:spPr>
          <a:xfrm>
            <a:off x="752475" y="2238375"/>
            <a:ext cx="1447800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87E79"/>
                </a:solidFill>
                <a:latin typeface="Arial"/>
                <a:ea typeface="Arial"/>
              </a:rPr>
              <a:t>HOST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A039670-6676-4434-917B-7206198C8A3A}"/>
              </a:ext>
            </a:extLst>
          </p:cNvPr>
          <p:cNvSpPr txBox="1"/>
          <p:nvPr/>
        </p:nvSpPr>
        <p:spPr>
          <a:xfrm>
            <a:off x="762000" y="2867025"/>
            <a:ext cx="1428750" cy="333375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700">
                <a:solidFill>
                  <a:srgbClr val="172F3C"/>
                </a:solidFill>
                <a:latin typeface="Arial"/>
                <a:ea typeface="Arial"/>
              </a:rPr>
              <a:t>App + NIC</a:t>
            </a:r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AF7FDD1C-2190-4DD7-BC40-36D88F10E82D}"/>
              </a:ext>
            </a:extLst>
          </p:cNvPr>
          <p:cNvCxnSpPr/>
          <p:nvPr/>
        </p:nvCxnSpPr>
        <p:spPr>
          <a:xfrm>
            <a:off x="2419350" y="2781300"/>
            <a:ext cx="285750" cy="9525"/>
          </a:xfrm>
          <a:prstGeom prst="straightConnector1">
            <a:avLst/>
          </a:prstGeom>
          <a:ln w="38100" cap="flat">
            <a:solidFill>
              <a:srgbClr val="087E79"/>
            </a:solidFill>
            <a:tailEnd type="triangle" w="med" len="med"/>
          </a:ln>
        </p:spPr>
      </p:cxnSp>
      <p:sp>
        <p:nvSpPr>
          <p:cNvPr id="10" name="Shape 10">
            <a:extLst>
              <a:ext uri="{FF2B5EF4-FFF2-40B4-BE49-F238E27FC236}">
                <a16:creationId xmlns:a16="http://schemas.microsoft.com/office/drawing/2014/main" id="{96A6D683-BB8C-43FA-B166-309A4EABB5FE}"/>
              </a:ext>
            </a:extLst>
          </p:cNvPr>
          <p:cNvSpPr/>
          <p:nvPr/>
        </p:nvSpPr>
        <p:spPr>
          <a:xfrm>
            <a:off x="2781300" y="1962150"/>
            <a:ext cx="1714500" cy="16573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6C1FD78-9A6F-44C4-9FEB-44C708AD9606}"/>
              </a:ext>
            </a:extLst>
          </p:cNvPr>
          <p:cNvSpPr txBox="1"/>
          <p:nvPr/>
        </p:nvSpPr>
        <p:spPr>
          <a:xfrm>
            <a:off x="2914650" y="2238375"/>
            <a:ext cx="1447800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87E79"/>
                </a:solidFill>
                <a:latin typeface="Arial"/>
                <a:ea typeface="Arial"/>
              </a:rPr>
              <a:t>SWITCH / AP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98D4B42-773B-4250-9504-8839093DEFA2}"/>
              </a:ext>
            </a:extLst>
          </p:cNvPr>
          <p:cNvSpPr txBox="1"/>
          <p:nvPr/>
        </p:nvSpPr>
        <p:spPr>
          <a:xfrm>
            <a:off x="2924175" y="2867025"/>
            <a:ext cx="1428750" cy="333375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700">
                <a:solidFill>
                  <a:srgbClr val="172F3C"/>
                </a:solidFill>
                <a:latin typeface="Arial"/>
                <a:ea typeface="Arial"/>
              </a:rPr>
              <a:t>LAN</a:t>
            </a:r>
          </a:p>
        </p:txBody>
      </p:sp>
      <p:cxnSp>
        <p:nvCxnSpPr>
          <p:cNvPr id="13" name="Straight Connector 13">
            <a:extLst>
              <a:ext uri="{FF2B5EF4-FFF2-40B4-BE49-F238E27FC236}">
                <a16:creationId xmlns:a16="http://schemas.microsoft.com/office/drawing/2014/main" id="{5BA27F69-D16B-4DFE-BD77-B96BD7A5E96E}"/>
              </a:ext>
            </a:extLst>
          </p:cNvPr>
          <p:cNvCxnSpPr/>
          <p:nvPr/>
        </p:nvCxnSpPr>
        <p:spPr>
          <a:xfrm>
            <a:off x="4581525" y="2781300"/>
            <a:ext cx="285750" cy="9525"/>
          </a:xfrm>
          <a:prstGeom prst="straightConnector1">
            <a:avLst/>
          </a:prstGeom>
          <a:ln w="38100" cap="flat">
            <a:solidFill>
              <a:srgbClr val="087E79"/>
            </a:solidFill>
            <a:tailEnd type="triangle" w="med" len="med"/>
          </a:ln>
        </p:spPr>
      </p:cxnSp>
      <p:sp>
        <p:nvSpPr>
          <p:cNvPr id="14" name="Shape 14">
            <a:extLst>
              <a:ext uri="{FF2B5EF4-FFF2-40B4-BE49-F238E27FC236}">
                <a16:creationId xmlns:a16="http://schemas.microsoft.com/office/drawing/2014/main" id="{0A06075A-E6D6-4604-AC92-594E25A57F65}"/>
              </a:ext>
            </a:extLst>
          </p:cNvPr>
          <p:cNvSpPr/>
          <p:nvPr/>
        </p:nvSpPr>
        <p:spPr>
          <a:xfrm>
            <a:off x="5248275" y="1962150"/>
            <a:ext cx="1714500" cy="165735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B22B3E5-0241-46D5-9526-C937D320364A}"/>
              </a:ext>
            </a:extLst>
          </p:cNvPr>
          <p:cNvSpPr txBox="1"/>
          <p:nvPr/>
        </p:nvSpPr>
        <p:spPr>
          <a:xfrm>
            <a:off x="5381625" y="2238375"/>
            <a:ext cx="1447800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87E79"/>
                </a:solidFill>
                <a:latin typeface="Arial"/>
                <a:ea typeface="Arial"/>
              </a:rPr>
              <a:t>ROUTER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AFC9B0E-791A-4F5C-93A2-60EF0F55F5AA}"/>
              </a:ext>
            </a:extLst>
          </p:cNvPr>
          <p:cNvSpPr txBox="1"/>
          <p:nvPr/>
        </p:nvSpPr>
        <p:spPr>
          <a:xfrm>
            <a:off x="5391150" y="2867025"/>
            <a:ext cx="1428750" cy="333375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700">
                <a:solidFill>
                  <a:srgbClr val="172F3C"/>
                </a:solidFill>
                <a:latin typeface="Arial"/>
                <a:ea typeface="Arial"/>
              </a:rPr>
              <a:t>IP + NAT</a:t>
            </a:r>
          </a:p>
        </p:txBody>
      </p: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E9FE453D-F995-4C1F-BCCD-9C6514469772}"/>
              </a:ext>
            </a:extLst>
          </p:cNvPr>
          <p:cNvCxnSpPr/>
          <p:nvPr/>
        </p:nvCxnSpPr>
        <p:spPr>
          <a:xfrm>
            <a:off x="7048500" y="2781300"/>
            <a:ext cx="285750" cy="9525"/>
          </a:xfrm>
          <a:prstGeom prst="straightConnector1">
            <a:avLst/>
          </a:prstGeom>
          <a:ln w="38100" cap="flat">
            <a:solidFill>
              <a:srgbClr val="087E79"/>
            </a:solidFill>
            <a:tailEnd type="triangle" w="med" len="med"/>
          </a:ln>
        </p:spPr>
      </p:cxnSp>
      <p:sp>
        <p:nvSpPr>
          <p:cNvPr id="18" name="Shape 18">
            <a:extLst>
              <a:ext uri="{FF2B5EF4-FFF2-40B4-BE49-F238E27FC236}">
                <a16:creationId xmlns:a16="http://schemas.microsoft.com/office/drawing/2014/main" id="{CD34C55F-D679-479D-B3D7-4379C9A88A75}"/>
              </a:ext>
            </a:extLst>
          </p:cNvPr>
          <p:cNvSpPr/>
          <p:nvPr/>
        </p:nvSpPr>
        <p:spPr>
          <a:xfrm>
            <a:off x="7677150" y="1962150"/>
            <a:ext cx="1847850" cy="16573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0A486DA-22F4-459E-81B2-ED19B8E7107F}"/>
              </a:ext>
            </a:extLst>
          </p:cNvPr>
          <p:cNvSpPr txBox="1"/>
          <p:nvPr/>
        </p:nvSpPr>
        <p:spPr>
          <a:xfrm>
            <a:off x="7810500" y="2238375"/>
            <a:ext cx="1581150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87E79"/>
                </a:solidFill>
                <a:latin typeface="Arial"/>
                <a:ea typeface="Arial"/>
              </a:rPr>
              <a:t>MODEM / ONT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C29787D-4CB4-4B81-8BEE-EE00D1E87430}"/>
              </a:ext>
            </a:extLst>
          </p:cNvPr>
          <p:cNvSpPr txBox="1"/>
          <p:nvPr/>
        </p:nvSpPr>
        <p:spPr>
          <a:xfrm>
            <a:off x="7820025" y="2867025"/>
            <a:ext cx="1562100" cy="333375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700">
                <a:solidFill>
                  <a:srgbClr val="172F3C"/>
                </a:solidFill>
                <a:latin typeface="Arial"/>
                <a:ea typeface="Arial"/>
              </a:rPr>
              <a:t>Tín hiệu</a:t>
            </a:r>
          </a:p>
        </p:txBody>
      </p: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5365085D-A9C2-4FD0-AE51-EE8413501F84}"/>
              </a:ext>
            </a:extLst>
          </p:cNvPr>
          <p:cNvCxnSpPr/>
          <p:nvPr/>
        </p:nvCxnSpPr>
        <p:spPr>
          <a:xfrm>
            <a:off x="9610725" y="2781300"/>
            <a:ext cx="285750" cy="9525"/>
          </a:xfrm>
          <a:prstGeom prst="straightConnector1">
            <a:avLst/>
          </a:prstGeom>
          <a:ln w="38100" cap="flat">
            <a:solidFill>
              <a:srgbClr val="087E79"/>
            </a:solidFill>
            <a:tailEnd type="triangle" w="med" len="med"/>
          </a:ln>
        </p:spPr>
      </p:cxnSp>
      <p:sp>
        <p:nvSpPr>
          <p:cNvPr id="22" name="Shape 22">
            <a:extLst>
              <a:ext uri="{FF2B5EF4-FFF2-40B4-BE49-F238E27FC236}">
                <a16:creationId xmlns:a16="http://schemas.microsoft.com/office/drawing/2014/main" id="{85DE21AB-2185-436D-93AC-D63293210D3A}"/>
              </a:ext>
            </a:extLst>
          </p:cNvPr>
          <p:cNvSpPr/>
          <p:nvPr/>
        </p:nvSpPr>
        <p:spPr>
          <a:xfrm>
            <a:off x="10048875" y="1962150"/>
            <a:ext cx="1714500" cy="165735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8D99921-A0C1-445C-903D-AE8DA4791808}"/>
              </a:ext>
            </a:extLst>
          </p:cNvPr>
          <p:cNvSpPr txBox="1"/>
          <p:nvPr/>
        </p:nvSpPr>
        <p:spPr>
          <a:xfrm>
            <a:off x="10182225" y="2238375"/>
            <a:ext cx="1447800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87E79"/>
                </a:solidFill>
                <a:latin typeface="Arial"/>
                <a:ea typeface="Arial"/>
              </a:rPr>
              <a:t>ISP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3712FB8-805E-4BA2-8DB7-010FA81DDCB7}"/>
              </a:ext>
            </a:extLst>
          </p:cNvPr>
          <p:cNvSpPr txBox="1"/>
          <p:nvPr/>
        </p:nvSpPr>
        <p:spPr>
          <a:xfrm>
            <a:off x="10191750" y="2867025"/>
            <a:ext cx="1428750" cy="333375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700">
                <a:solidFill>
                  <a:srgbClr val="172F3C"/>
                </a:solidFill>
                <a:latin typeface="Arial"/>
                <a:ea typeface="Arial"/>
              </a:rPr>
              <a:t>WAN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CAD1C7D-E33A-4DC5-8F05-307CBD62481D}"/>
              </a:ext>
            </a:extLst>
          </p:cNvPr>
          <p:cNvSpPr txBox="1"/>
          <p:nvPr/>
        </p:nvSpPr>
        <p:spPr>
          <a:xfrm>
            <a:off x="781050" y="4552950"/>
            <a:ext cx="10668000" cy="6858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>
                <a:solidFill>
                  <a:srgbClr val="172F3C"/>
                </a:solidFill>
                <a:latin typeface="Arial"/>
                <a:ea typeface="Arial"/>
              </a:rPr>
              <a:t>Một hộp Wi-Fi gia đình có thể gộp router, switch, AP, NAT, firewall và DHCP.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F323342-6CD3-40AF-ACF9-5EB6DCAE90FD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TỔNG QUAN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A016595-8CE1-4B0F-AA27-4C78BD457D00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OSI là bản đồ; TCP/IP là stack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C84F9E5-150F-4EAE-9750-E690FE822797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7FF9653-91AD-4E30-939F-AD03C19ADE8A}"/>
              </a:ext>
            </a:extLst>
          </p:cNvPr>
          <p:cNvSpPr/>
          <p:nvPr/>
        </p:nvSpPr>
        <p:spPr>
          <a:xfrm>
            <a:off x="666750" y="1524000"/>
            <a:ext cx="6896100" cy="55245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C1CCAC7-5039-4E40-810B-A032F1061E66}"/>
              </a:ext>
            </a:extLst>
          </p:cNvPr>
          <p:cNvSpPr txBox="1"/>
          <p:nvPr/>
        </p:nvSpPr>
        <p:spPr>
          <a:xfrm>
            <a:off x="1419225" y="1657350"/>
            <a:ext cx="1828800" cy="3524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72F3C"/>
                </a:solidFill>
                <a:latin typeface="Arial"/>
                <a:ea typeface="Arial"/>
              </a:rPr>
              <a:t>Ứng dụng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726231B-1E5D-4389-ACD0-A8395A03F1B3}"/>
              </a:ext>
            </a:extLst>
          </p:cNvPr>
          <p:cNvSpPr txBox="1"/>
          <p:nvPr/>
        </p:nvSpPr>
        <p:spPr>
          <a:xfrm>
            <a:off x="3390900" y="1657350"/>
            <a:ext cx="1238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5F7580"/>
                </a:solidFill>
                <a:latin typeface="Arial"/>
                <a:ea typeface="Arial"/>
              </a:rPr>
              <a:t>Data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9D75051-D6A0-4DB5-83F5-9740428F6555}"/>
              </a:ext>
            </a:extLst>
          </p:cNvPr>
          <p:cNvSpPr txBox="1"/>
          <p:nvPr/>
        </p:nvSpPr>
        <p:spPr>
          <a:xfrm>
            <a:off x="4886325" y="1657350"/>
            <a:ext cx="2381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HTTP · DNS · MQTT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B150D6D-8AFC-44B4-ACD9-D1ADF329D108}"/>
              </a:ext>
            </a:extLst>
          </p:cNvPr>
          <p:cNvSpPr/>
          <p:nvPr/>
        </p:nvSpPr>
        <p:spPr>
          <a:xfrm>
            <a:off x="781050" y="1590675"/>
            <a:ext cx="419100" cy="419100"/>
          </a:xfrm>
          <a:prstGeom prst="roundRect">
            <a:avLst/>
          </a:prstGeom>
          <a:solidFill>
            <a:srgbClr val="087E79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7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F6185B1-DC47-4113-B027-1F356C9D1306}"/>
              </a:ext>
            </a:extLst>
          </p:cNvPr>
          <p:cNvSpPr/>
          <p:nvPr/>
        </p:nvSpPr>
        <p:spPr>
          <a:xfrm>
            <a:off x="666750" y="2162175"/>
            <a:ext cx="6896100" cy="5524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C395DF8-12E1-4ADF-BA8E-AB86120D0CE5}"/>
              </a:ext>
            </a:extLst>
          </p:cNvPr>
          <p:cNvSpPr txBox="1"/>
          <p:nvPr/>
        </p:nvSpPr>
        <p:spPr>
          <a:xfrm>
            <a:off x="1419225" y="2295525"/>
            <a:ext cx="1828800" cy="3524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72F3C"/>
                </a:solidFill>
                <a:latin typeface="Arial"/>
                <a:ea typeface="Arial"/>
              </a:rPr>
              <a:t>Biểu diễn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2B557A4-83BF-4067-A17C-59FFD95C2520}"/>
              </a:ext>
            </a:extLst>
          </p:cNvPr>
          <p:cNvSpPr txBox="1"/>
          <p:nvPr/>
        </p:nvSpPr>
        <p:spPr>
          <a:xfrm>
            <a:off x="3390900" y="2295525"/>
            <a:ext cx="1238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5F7580"/>
                </a:solidFill>
                <a:latin typeface="Arial"/>
                <a:ea typeface="Arial"/>
              </a:rPr>
              <a:t>Data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10CF69C-C52C-44A4-82B0-DEC122E5E92C}"/>
              </a:ext>
            </a:extLst>
          </p:cNvPr>
          <p:cNvSpPr txBox="1"/>
          <p:nvPr/>
        </p:nvSpPr>
        <p:spPr>
          <a:xfrm>
            <a:off x="4886325" y="2295525"/>
            <a:ext cx="2381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UTF-8 · TLS*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EBA1A6F-A91F-473F-B2F8-2EBA333A4008}"/>
              </a:ext>
            </a:extLst>
          </p:cNvPr>
          <p:cNvSpPr/>
          <p:nvPr/>
        </p:nvSpPr>
        <p:spPr>
          <a:xfrm>
            <a:off x="781050" y="2228850"/>
            <a:ext cx="419100" cy="419100"/>
          </a:xfrm>
          <a:prstGeom prst="roundRect">
            <a:avLst/>
          </a:prstGeom>
          <a:solidFill>
            <a:srgbClr val="087E79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5C054DD-3EEB-4EA4-A30D-72F4683350F4}"/>
              </a:ext>
            </a:extLst>
          </p:cNvPr>
          <p:cNvSpPr/>
          <p:nvPr/>
        </p:nvSpPr>
        <p:spPr>
          <a:xfrm>
            <a:off x="666750" y="2800350"/>
            <a:ext cx="6896100" cy="55245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59C1D60-F062-4061-95DE-9FC21CCB7F95}"/>
              </a:ext>
            </a:extLst>
          </p:cNvPr>
          <p:cNvSpPr txBox="1"/>
          <p:nvPr/>
        </p:nvSpPr>
        <p:spPr>
          <a:xfrm>
            <a:off x="1419225" y="2933700"/>
            <a:ext cx="1828800" cy="3524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72F3C"/>
                </a:solidFill>
                <a:latin typeface="Arial"/>
                <a:ea typeface="Arial"/>
              </a:rPr>
              <a:t>Phiên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EFD3292-DFD6-4D13-9941-9CADB98DD313}"/>
              </a:ext>
            </a:extLst>
          </p:cNvPr>
          <p:cNvSpPr txBox="1"/>
          <p:nvPr/>
        </p:nvSpPr>
        <p:spPr>
          <a:xfrm>
            <a:off x="3390900" y="2933700"/>
            <a:ext cx="1238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5F7580"/>
                </a:solidFill>
                <a:latin typeface="Arial"/>
                <a:ea typeface="Arial"/>
              </a:rPr>
              <a:t>Data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76C4F6F-DE8D-401F-A485-929BC7CE195D}"/>
              </a:ext>
            </a:extLst>
          </p:cNvPr>
          <p:cNvSpPr txBox="1"/>
          <p:nvPr/>
        </p:nvSpPr>
        <p:spPr>
          <a:xfrm>
            <a:off x="4886325" y="2933700"/>
            <a:ext cx="2381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RPC · session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88A976D1-462A-4ADB-9038-B6945A4AF776}"/>
              </a:ext>
            </a:extLst>
          </p:cNvPr>
          <p:cNvSpPr/>
          <p:nvPr/>
        </p:nvSpPr>
        <p:spPr>
          <a:xfrm>
            <a:off x="781050" y="2867025"/>
            <a:ext cx="419100" cy="419100"/>
          </a:xfrm>
          <a:prstGeom prst="roundRect">
            <a:avLst/>
          </a:prstGeom>
          <a:solidFill>
            <a:srgbClr val="087E79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86CAE335-71D3-490A-A7FF-8034C0FC1423}"/>
              </a:ext>
            </a:extLst>
          </p:cNvPr>
          <p:cNvSpPr/>
          <p:nvPr/>
        </p:nvSpPr>
        <p:spPr>
          <a:xfrm>
            <a:off x="666750" y="3438525"/>
            <a:ext cx="6896100" cy="5524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5CDA329-69D3-4235-8EC4-A3CB0DB36C71}"/>
              </a:ext>
            </a:extLst>
          </p:cNvPr>
          <p:cNvSpPr txBox="1"/>
          <p:nvPr/>
        </p:nvSpPr>
        <p:spPr>
          <a:xfrm>
            <a:off x="1419225" y="3571875"/>
            <a:ext cx="1828800" cy="3524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72F3C"/>
                </a:solidFill>
                <a:latin typeface="Arial"/>
                <a:ea typeface="Arial"/>
              </a:rPr>
              <a:t>Vận chuyển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7644009-E093-4337-97E4-807261428825}"/>
              </a:ext>
            </a:extLst>
          </p:cNvPr>
          <p:cNvSpPr txBox="1"/>
          <p:nvPr/>
        </p:nvSpPr>
        <p:spPr>
          <a:xfrm>
            <a:off x="3390900" y="3571875"/>
            <a:ext cx="1238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5F7580"/>
                </a:solidFill>
                <a:latin typeface="Arial"/>
                <a:ea typeface="Arial"/>
              </a:rPr>
              <a:t>Segment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B3AADD6-BF3B-4AC9-9C1E-7E4243620D75}"/>
              </a:ext>
            </a:extLst>
          </p:cNvPr>
          <p:cNvSpPr txBox="1"/>
          <p:nvPr/>
        </p:nvSpPr>
        <p:spPr>
          <a:xfrm>
            <a:off x="4886325" y="3571875"/>
            <a:ext cx="2381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TCP · UDP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D2930347-4C9E-4B10-B0DC-C07F9C901549}"/>
              </a:ext>
            </a:extLst>
          </p:cNvPr>
          <p:cNvSpPr/>
          <p:nvPr/>
        </p:nvSpPr>
        <p:spPr>
          <a:xfrm>
            <a:off x="781050" y="3505200"/>
            <a:ext cx="419100" cy="419100"/>
          </a:xfrm>
          <a:prstGeom prst="roundRect">
            <a:avLst/>
          </a:prstGeom>
          <a:solidFill>
            <a:srgbClr val="087E79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D87570FF-0C88-4CE8-A0CE-B792FF6CD95B}"/>
              </a:ext>
            </a:extLst>
          </p:cNvPr>
          <p:cNvSpPr/>
          <p:nvPr/>
        </p:nvSpPr>
        <p:spPr>
          <a:xfrm>
            <a:off x="666750" y="4076700"/>
            <a:ext cx="6896100" cy="55245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9018E07-80F7-4ED6-AE3B-11090F1C55C7}"/>
              </a:ext>
            </a:extLst>
          </p:cNvPr>
          <p:cNvSpPr txBox="1"/>
          <p:nvPr/>
        </p:nvSpPr>
        <p:spPr>
          <a:xfrm>
            <a:off x="1419225" y="4210050"/>
            <a:ext cx="1828800" cy="3524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72F3C"/>
                </a:solidFill>
                <a:latin typeface="Arial"/>
                <a:ea typeface="Arial"/>
              </a:rPr>
              <a:t>Mạng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C7C0773-E961-4B83-9234-1FEF21D5F4A2}"/>
              </a:ext>
            </a:extLst>
          </p:cNvPr>
          <p:cNvSpPr txBox="1"/>
          <p:nvPr/>
        </p:nvSpPr>
        <p:spPr>
          <a:xfrm>
            <a:off x="3390900" y="4210050"/>
            <a:ext cx="1238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5F7580"/>
                </a:solidFill>
                <a:latin typeface="Arial"/>
                <a:ea typeface="Arial"/>
              </a:rPr>
              <a:t>Packet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AD61ACE-CBFF-4455-B7E3-B4D4D907B494}"/>
              </a:ext>
            </a:extLst>
          </p:cNvPr>
          <p:cNvSpPr txBox="1"/>
          <p:nvPr/>
        </p:nvSpPr>
        <p:spPr>
          <a:xfrm>
            <a:off x="4886325" y="4210050"/>
            <a:ext cx="2381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IPv4 · IPv6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7134CF07-096C-49DB-8CA7-354B75228EBE}"/>
              </a:ext>
            </a:extLst>
          </p:cNvPr>
          <p:cNvSpPr/>
          <p:nvPr/>
        </p:nvSpPr>
        <p:spPr>
          <a:xfrm>
            <a:off x="781050" y="4143375"/>
            <a:ext cx="419100" cy="419100"/>
          </a:xfrm>
          <a:prstGeom prst="roundRect">
            <a:avLst/>
          </a:prstGeom>
          <a:solidFill>
            <a:srgbClr val="087E79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265B772A-3CFE-4A31-A67E-3105E3B2BC42}"/>
              </a:ext>
            </a:extLst>
          </p:cNvPr>
          <p:cNvSpPr/>
          <p:nvPr/>
        </p:nvSpPr>
        <p:spPr>
          <a:xfrm>
            <a:off x="666750" y="4714875"/>
            <a:ext cx="6896100" cy="5524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A5C7512-B74F-4E0D-8688-37D9443404CE}"/>
              </a:ext>
            </a:extLst>
          </p:cNvPr>
          <p:cNvSpPr txBox="1"/>
          <p:nvPr/>
        </p:nvSpPr>
        <p:spPr>
          <a:xfrm>
            <a:off x="1419225" y="4848225"/>
            <a:ext cx="1828800" cy="3524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72F3C"/>
                </a:solidFill>
                <a:latin typeface="Arial"/>
                <a:ea typeface="Arial"/>
              </a:rPr>
              <a:t>Liên kết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D38AD096-EAE7-48AC-AB89-90512063DD80}"/>
              </a:ext>
            </a:extLst>
          </p:cNvPr>
          <p:cNvSpPr txBox="1"/>
          <p:nvPr/>
        </p:nvSpPr>
        <p:spPr>
          <a:xfrm>
            <a:off x="3390900" y="4848225"/>
            <a:ext cx="1238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5F7580"/>
                </a:solidFill>
                <a:latin typeface="Arial"/>
                <a:ea typeface="Arial"/>
              </a:rPr>
              <a:t>Frame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4DB9604-0A68-49CB-8E5B-9D5DDD4FB369}"/>
              </a:ext>
            </a:extLst>
          </p:cNvPr>
          <p:cNvSpPr txBox="1"/>
          <p:nvPr/>
        </p:nvSpPr>
        <p:spPr>
          <a:xfrm>
            <a:off x="4886325" y="4848225"/>
            <a:ext cx="2381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Ethernet · Wi-Fi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19D85078-1681-48B1-9C3A-F193A58A26F4}"/>
              </a:ext>
            </a:extLst>
          </p:cNvPr>
          <p:cNvSpPr/>
          <p:nvPr/>
        </p:nvSpPr>
        <p:spPr>
          <a:xfrm>
            <a:off x="781050" y="4781550"/>
            <a:ext cx="419100" cy="419100"/>
          </a:xfrm>
          <a:prstGeom prst="roundRect">
            <a:avLst/>
          </a:prstGeom>
          <a:solidFill>
            <a:srgbClr val="087E79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87C27FF2-9CBB-4A95-A91F-2417FEDC8DD4}"/>
              </a:ext>
            </a:extLst>
          </p:cNvPr>
          <p:cNvSpPr/>
          <p:nvPr/>
        </p:nvSpPr>
        <p:spPr>
          <a:xfrm>
            <a:off x="666750" y="5353050"/>
            <a:ext cx="6896100" cy="55245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AEC3E989-7BCE-43E8-BF11-37D6525EC8E3}"/>
              </a:ext>
            </a:extLst>
          </p:cNvPr>
          <p:cNvSpPr txBox="1"/>
          <p:nvPr/>
        </p:nvSpPr>
        <p:spPr>
          <a:xfrm>
            <a:off x="1419225" y="5486400"/>
            <a:ext cx="1828800" cy="3524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72F3C"/>
                </a:solidFill>
                <a:latin typeface="Arial"/>
                <a:ea typeface="Arial"/>
              </a:rPr>
              <a:t>Vật lý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0542F623-7078-4F03-BC85-3167F20CE5F1}"/>
              </a:ext>
            </a:extLst>
          </p:cNvPr>
          <p:cNvSpPr txBox="1"/>
          <p:nvPr/>
        </p:nvSpPr>
        <p:spPr>
          <a:xfrm>
            <a:off x="3390900" y="5486400"/>
            <a:ext cx="1238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5F7580"/>
                </a:solidFill>
                <a:latin typeface="Arial"/>
                <a:ea typeface="Arial"/>
              </a:rPr>
              <a:t>Bit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BFEC4EED-D4EB-4D5C-A799-C9BFED8A5106}"/>
              </a:ext>
            </a:extLst>
          </p:cNvPr>
          <p:cNvSpPr txBox="1"/>
          <p:nvPr/>
        </p:nvSpPr>
        <p:spPr>
          <a:xfrm>
            <a:off x="4886325" y="5486400"/>
            <a:ext cx="2381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cáp · radio</a:t>
            </a:r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44FD5B3D-D5E5-4464-A4C1-212FA723DCF2}"/>
              </a:ext>
            </a:extLst>
          </p:cNvPr>
          <p:cNvSpPr/>
          <p:nvPr/>
        </p:nvSpPr>
        <p:spPr>
          <a:xfrm>
            <a:off x="781050" y="5419725"/>
            <a:ext cx="419100" cy="419100"/>
          </a:xfrm>
          <a:prstGeom prst="roundRect">
            <a:avLst/>
          </a:prstGeom>
          <a:solidFill>
            <a:srgbClr val="087E79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19C0794D-7FA3-4C1C-8C3A-61889BA52BF8}"/>
              </a:ext>
            </a:extLst>
          </p:cNvPr>
          <p:cNvSpPr/>
          <p:nvPr/>
        </p:nvSpPr>
        <p:spPr>
          <a:xfrm>
            <a:off x="7877175" y="1524000"/>
            <a:ext cx="3476625" cy="1752600"/>
          </a:xfrm>
          <a:prstGeom prst="roundRect">
            <a:avLst/>
          </a:prstGeom>
          <a:solidFill>
            <a:srgbClr val="FFF3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9D409416-4890-4714-87F2-7440602B67BC}"/>
              </a:ext>
            </a:extLst>
          </p:cNvPr>
          <p:cNvSpPr txBox="1"/>
          <p:nvPr/>
        </p:nvSpPr>
        <p:spPr>
          <a:xfrm>
            <a:off x="8096250" y="1838325"/>
            <a:ext cx="3048000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72F3C"/>
                </a:solidFill>
                <a:latin typeface="Arial"/>
                <a:ea typeface="Arial"/>
              </a:rPr>
              <a:t>TCP/IP APPLICATION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1BF911C5-A5F0-4C32-A606-CC7789B894C8}"/>
              </a:ext>
            </a:extLst>
          </p:cNvPr>
          <p:cNvSpPr txBox="1"/>
          <p:nvPr/>
        </p:nvSpPr>
        <p:spPr>
          <a:xfrm>
            <a:off x="8105775" y="2543175"/>
            <a:ext cx="2952750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D8912E"/>
                </a:solidFill>
                <a:latin typeface="Arial"/>
                <a:ea typeface="Arial"/>
              </a:rPr>
              <a:t>OSI 5–7</a:t>
            </a:r>
          </a:p>
        </p:txBody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CC6E916D-879C-48BA-86B8-28947E5F54BB}"/>
              </a:ext>
            </a:extLst>
          </p:cNvPr>
          <p:cNvSpPr/>
          <p:nvPr/>
        </p:nvSpPr>
        <p:spPr>
          <a:xfrm>
            <a:off x="7877175" y="3381375"/>
            <a:ext cx="3476625" cy="790575"/>
          </a:xfrm>
          <a:prstGeom prst="roundRect">
            <a:avLst/>
          </a:prstGeom>
          <a:solidFill>
            <a:srgbClr val="E8F5F3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087E79"/>
                </a:solidFill>
                <a:latin typeface="Arial"/>
                <a:ea typeface="Arial"/>
              </a:rPr>
              <a:t>TRANSPORT  ≈  OSI 4</a:t>
            </a:r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65D202BF-594B-4ADA-AD59-2D944766EF4F}"/>
              </a:ext>
            </a:extLst>
          </p:cNvPr>
          <p:cNvSpPr/>
          <p:nvPr/>
        </p:nvSpPr>
        <p:spPr>
          <a:xfrm>
            <a:off x="7877175" y="4267200"/>
            <a:ext cx="3476625" cy="790575"/>
          </a:xfrm>
          <a:prstGeom prst="roundRect">
            <a:avLst/>
          </a:prstGeom>
          <a:solidFill>
            <a:srgbClr val="E8F5F3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087E79"/>
                </a:solidFill>
                <a:latin typeface="Arial"/>
                <a:ea typeface="Arial"/>
              </a:rPr>
              <a:t>INTERNET  ≈  OSI 3</a:t>
            </a:r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31553971-CAA5-4E3D-9641-70A6734564A8}"/>
              </a:ext>
            </a:extLst>
          </p:cNvPr>
          <p:cNvSpPr/>
          <p:nvPr/>
        </p:nvSpPr>
        <p:spPr>
          <a:xfrm>
            <a:off x="7877175" y="5153025"/>
            <a:ext cx="3476625" cy="790575"/>
          </a:xfrm>
          <a:prstGeom prst="roundRect">
            <a:avLst/>
          </a:prstGeom>
          <a:solidFill>
            <a:srgbClr val="E8F5F3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087E79"/>
                </a:solidFill>
                <a:latin typeface="Arial"/>
                <a:ea typeface="Arial"/>
              </a:rPr>
              <a:t>LINK  ≈  OSI 1–2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E8D7D02-D686-4F62-9834-7D973A6FD279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OSI 5–7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2CE64DB-A547-47C3-B020-F82346618E53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Tầng 7: ứng dụng nói chuyện bằng giao thức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9DFB7F5-8382-4924-B266-FD179DB6D4D3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AB32-5034-4C02-821E-926C11663EC3}"/>
              </a:ext>
            </a:extLst>
          </p:cNvPr>
          <p:cNvSpPr/>
          <p:nvPr/>
        </p:nvSpPr>
        <p:spPr>
          <a:xfrm>
            <a:off x="619125" y="1666875"/>
            <a:ext cx="3333750" cy="19050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EF72CAC-A8E0-4395-AC92-0D77652EF9C2}"/>
              </a:ext>
            </a:extLst>
          </p:cNvPr>
          <p:cNvSpPr txBox="1"/>
          <p:nvPr/>
        </p:nvSpPr>
        <p:spPr>
          <a:xfrm>
            <a:off x="828675" y="1876425"/>
            <a:ext cx="291465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HTTP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B63B79C-DC6D-4869-9AAF-0CD86F9FA8A6}"/>
              </a:ext>
            </a:extLst>
          </p:cNvPr>
          <p:cNvSpPr txBox="1"/>
          <p:nvPr/>
        </p:nvSpPr>
        <p:spPr>
          <a:xfrm>
            <a:off x="828675" y="2381250"/>
            <a:ext cx="2914650" cy="10287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Request / response</a:t>
            </a:r>
            <a:br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GET · POST · status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8E709D5-D72B-4D61-972B-1F241C82746B}"/>
              </a:ext>
            </a:extLst>
          </p:cNvPr>
          <p:cNvSpPr/>
          <p:nvPr/>
        </p:nvSpPr>
        <p:spPr>
          <a:xfrm>
            <a:off x="4410075" y="1666875"/>
            <a:ext cx="3333750" cy="19050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1A77B7D-0AF4-4611-ABA6-BB8BAFEB655F}"/>
              </a:ext>
            </a:extLst>
          </p:cNvPr>
          <p:cNvSpPr txBox="1"/>
          <p:nvPr/>
        </p:nvSpPr>
        <p:spPr>
          <a:xfrm>
            <a:off x="4619625" y="1876425"/>
            <a:ext cx="291465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DNS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1E1B202-DE5B-41B6-99E2-25A94ED841B1}"/>
              </a:ext>
            </a:extLst>
          </p:cNvPr>
          <p:cNvSpPr txBox="1"/>
          <p:nvPr/>
        </p:nvSpPr>
        <p:spPr>
          <a:xfrm>
            <a:off x="4619625" y="2381250"/>
            <a:ext cx="2914650" cy="10287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Tên miền → IP</a:t>
            </a:r>
            <a:br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A · AAAA · CNAME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CD3538C-5F58-4F86-A2EF-58FA011E1359}"/>
              </a:ext>
            </a:extLst>
          </p:cNvPr>
          <p:cNvSpPr/>
          <p:nvPr/>
        </p:nvSpPr>
        <p:spPr>
          <a:xfrm>
            <a:off x="8201025" y="1666875"/>
            <a:ext cx="3333750" cy="19050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CB37763-D76F-48D6-BF31-68A95705D24F}"/>
              </a:ext>
            </a:extLst>
          </p:cNvPr>
          <p:cNvSpPr txBox="1"/>
          <p:nvPr/>
        </p:nvSpPr>
        <p:spPr>
          <a:xfrm>
            <a:off x="8410575" y="1876425"/>
            <a:ext cx="291465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MQTT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A2D0278-26D9-4C36-AF2A-D8679B79A264}"/>
              </a:ext>
            </a:extLst>
          </p:cNvPr>
          <p:cNvSpPr txBox="1"/>
          <p:nvPr/>
        </p:nvSpPr>
        <p:spPr>
          <a:xfrm>
            <a:off x="8410575" y="2381250"/>
            <a:ext cx="2914650" cy="10287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Publish / subscribe</a:t>
            </a:r>
            <a:br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Thiết bị → broker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2F5F6149-31F3-4AFC-A721-BDF09DCB1315}"/>
              </a:ext>
            </a:extLst>
          </p:cNvPr>
          <p:cNvSpPr/>
          <p:nvPr/>
        </p:nvSpPr>
        <p:spPr>
          <a:xfrm>
            <a:off x="2476500" y="4010025"/>
            <a:ext cx="3333750" cy="172402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9112391-3CD3-4383-8D90-7BA07C339420}"/>
              </a:ext>
            </a:extLst>
          </p:cNvPr>
          <p:cNvSpPr txBox="1"/>
          <p:nvPr/>
        </p:nvSpPr>
        <p:spPr>
          <a:xfrm>
            <a:off x="2686050" y="4219575"/>
            <a:ext cx="291465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DHCP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7D7FA81-6AF7-4862-9A3D-B5B976A5B31F}"/>
              </a:ext>
            </a:extLst>
          </p:cNvPr>
          <p:cNvSpPr txBox="1"/>
          <p:nvPr/>
        </p:nvSpPr>
        <p:spPr>
          <a:xfrm>
            <a:off x="2686050" y="4724400"/>
            <a:ext cx="2914650" cy="8477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Cấp IP, gateway, DNS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35411F50-2D46-4F0A-BD7F-9A2A024A074F}"/>
              </a:ext>
            </a:extLst>
          </p:cNvPr>
          <p:cNvSpPr/>
          <p:nvPr/>
        </p:nvSpPr>
        <p:spPr>
          <a:xfrm>
            <a:off x="6334125" y="4010025"/>
            <a:ext cx="3333750" cy="172402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D8D6297-5A81-400C-89D7-949EA556FF13}"/>
              </a:ext>
            </a:extLst>
          </p:cNvPr>
          <p:cNvSpPr txBox="1"/>
          <p:nvPr/>
        </p:nvSpPr>
        <p:spPr>
          <a:xfrm>
            <a:off x="6543675" y="4219575"/>
            <a:ext cx="291465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SSH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0DE30C2-5F81-4003-90A6-881C8AEFA705}"/>
              </a:ext>
            </a:extLst>
          </p:cNvPr>
          <p:cNvSpPr txBox="1"/>
          <p:nvPr/>
        </p:nvSpPr>
        <p:spPr>
          <a:xfrm>
            <a:off x="6543675" y="4724400"/>
            <a:ext cx="2914650" cy="8477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Đăng nhập điều khiển từ xa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4A08782-73A7-46F0-9BF8-EFCE82C86904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OSI 5–7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E9DE326-E632-4EE8-9364-85EF1EE5A6A1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Tầng 5–6: phiên và biểu diễn dữ liệu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9846771-B6EA-4711-BE7E-615BB39D8A07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F721C6D-779E-45ED-8B7E-2F1F1DA87385}"/>
              </a:ext>
            </a:extLst>
          </p:cNvPr>
          <p:cNvSpPr/>
          <p:nvPr/>
        </p:nvSpPr>
        <p:spPr>
          <a:xfrm>
            <a:off x="685800" y="1714500"/>
            <a:ext cx="5095875" cy="35242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E86096B-012A-4B7C-BB48-DA4DA538BD05}"/>
              </a:ext>
            </a:extLst>
          </p:cNvPr>
          <p:cNvSpPr txBox="1"/>
          <p:nvPr/>
        </p:nvSpPr>
        <p:spPr>
          <a:xfrm>
            <a:off x="895350" y="1924050"/>
            <a:ext cx="467677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Tầng 6 — biểu diễn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3F3993C-6B8C-4BCC-9BC8-7D7333CD7D75}"/>
              </a:ext>
            </a:extLst>
          </p:cNvPr>
          <p:cNvSpPr txBox="1"/>
          <p:nvPr/>
        </p:nvSpPr>
        <p:spPr>
          <a:xfrm>
            <a:off x="895350" y="2428875"/>
            <a:ext cx="4676775" cy="26479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UTF-8 đổi ký tự thành byte. JSON/CBOR mô tả cấu trúc. TLS bảo vệ byte trên đường truyền.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3D628A4-9671-4C56-AF7D-94985FCCC08F}"/>
              </a:ext>
            </a:extLst>
          </p:cNvPr>
          <p:cNvSpPr/>
          <p:nvPr/>
        </p:nvSpPr>
        <p:spPr>
          <a:xfrm>
            <a:off x="6353175" y="1714500"/>
            <a:ext cx="5095875" cy="3524250"/>
          </a:xfrm>
          <a:prstGeom prst="roundRect">
            <a:avLst/>
          </a:prstGeom>
          <a:solidFill>
            <a:srgbClr val="FFF3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0C38469-0247-42E1-9579-17D3DF2CAD94}"/>
              </a:ext>
            </a:extLst>
          </p:cNvPr>
          <p:cNvSpPr txBox="1"/>
          <p:nvPr/>
        </p:nvSpPr>
        <p:spPr>
          <a:xfrm>
            <a:off x="6562725" y="1924050"/>
            <a:ext cx="467677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D8912E"/>
                </a:solidFill>
                <a:latin typeface="Arial"/>
                <a:ea typeface="Arial"/>
              </a:rPr>
              <a:t>Tầng 5 — phiên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7F53C8E-F836-47A5-9778-DE3DC6EDCBFB}"/>
              </a:ext>
            </a:extLst>
          </p:cNvPr>
          <p:cNvSpPr txBox="1"/>
          <p:nvPr/>
        </p:nvSpPr>
        <p:spPr>
          <a:xfrm>
            <a:off x="6562725" y="2428875"/>
            <a:ext cx="4676775" cy="26479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Session ID/cookie giúp ứng dụng nhận lại phiên logic. RPC quản lý lời gọi và phản hồi.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C841C46-C356-49AC-92DA-28F8C262E284}"/>
              </a:ext>
            </a:extLst>
          </p:cNvPr>
          <p:cNvSpPr txBox="1"/>
          <p:nvPr/>
        </p:nvSpPr>
        <p:spPr>
          <a:xfrm>
            <a:off x="809625" y="5562600"/>
            <a:ext cx="10477500" cy="6858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>
                <a:solidFill>
                  <a:srgbClr val="5F7580"/>
                </a:solidFill>
                <a:latin typeface="Arial"/>
                <a:ea typeface="Arial"/>
              </a:rPr>
              <a:t>Trong TCP/IP thực tế, nhiều chức năng tầng 5–6 nằm trong ứng dụng hoặc thư viện; TLS không có một vị trí OSI cố định.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8BD1878-DFAF-4B95-A1B4-E31F0DDFCB0C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INTERFACE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83A446B-152F-493C-B95B-DB9C341ADF81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Interface thật: Socket API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558B5B8-8006-4EF1-ABCA-8D4AA80F22BD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07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7B01226-E8C3-47DC-B6DE-02D1A5F5CFA3}"/>
              </a:ext>
            </a:extLst>
          </p:cNvPr>
          <p:cNvSpPr/>
          <p:nvPr/>
        </p:nvSpPr>
        <p:spPr>
          <a:xfrm>
            <a:off x="619125" y="1562100"/>
            <a:ext cx="6000750" cy="4210050"/>
          </a:xfrm>
          <a:prstGeom prst="roundRect">
            <a:avLst/>
          </a:prstGeom>
          <a:solidFill>
            <a:srgbClr val="10233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2359307-A5BE-49CD-ADDF-FCC9EDB56672}"/>
              </a:ext>
            </a:extLst>
          </p:cNvPr>
          <p:cNvSpPr txBox="1"/>
          <p:nvPr/>
        </p:nvSpPr>
        <p:spPr>
          <a:xfrm>
            <a:off x="895350" y="2028825"/>
            <a:ext cx="5476875" cy="30289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ourier New"/>
                <a:ea typeface="Courier New"/>
              </a:rPr>
              <a:t>fd = socket(AF_INET, SOCK_STREAM, 0);</a:t>
            </a:r>
            <a:br/>
            <a:r>
              <a:rPr sz="2200">
                <a:solidFill>
                  <a:srgbClr val="FFFFFF"/>
                </a:solidFill>
                <a:latin typeface="Courier New"/>
                <a:ea typeface="Courier New"/>
              </a:rPr>
              <a:t>connect(fd, server_ip:443);</a:t>
            </a:r>
            <a:br/>
            <a:r>
              <a:rPr sz="2200">
                <a:solidFill>
                  <a:srgbClr val="FFFFFF"/>
                </a:solidFill>
                <a:latin typeface="Courier New"/>
                <a:ea typeface="Courier New"/>
              </a:rPr>
              <a:t>send(fd, data, len, 0);</a:t>
            </a:r>
            <a:br/>
            <a:r>
              <a:rPr sz="2200">
                <a:solidFill>
                  <a:srgbClr val="FFFFFF"/>
                </a:solidFill>
                <a:latin typeface="Courier New"/>
                <a:ea typeface="Courier New"/>
              </a:rPr>
              <a:t>recv(fd, buf, len, 0);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29A709C-8817-4968-B73F-79A760812AFC}"/>
              </a:ext>
            </a:extLst>
          </p:cNvPr>
          <p:cNvSpPr txBox="1"/>
          <p:nvPr/>
        </p:nvSpPr>
        <p:spPr>
          <a:xfrm>
            <a:off x="7191375" y="1762125"/>
            <a:ext cx="4095750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87E79"/>
                </a:solidFill>
                <a:latin typeface="Arial"/>
                <a:ea typeface="Arial"/>
              </a:rPr>
              <a:t>ỨNG DỤNG GỌI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125E49D-A699-4FA1-B382-BA31A26B7BF6}"/>
              </a:ext>
            </a:extLst>
          </p:cNvPr>
          <p:cNvSpPr/>
          <p:nvPr/>
        </p:nvSpPr>
        <p:spPr>
          <a:xfrm>
            <a:off x="7124700" y="2324100"/>
            <a:ext cx="4381500" cy="904875"/>
          </a:xfrm>
          <a:prstGeom prst="roundRect">
            <a:avLst/>
          </a:prstGeom>
          <a:solidFill>
            <a:srgbClr val="E8F5F3"/>
          </a:solidFill>
        </p:spPr>
        <p:txBody>
          <a:bodyPr wrap="square" rtlCol="0" lIns="0" tIns="0" rIns="0" bIns="0" anchor="ctr"/>
          <a:lstStyle/>
          <a:p>
            <a:pPr algn="ctr"/>
            <a:r>
              <a:rPr sz="2500" b="1">
                <a:solidFill>
                  <a:srgbClr val="087E79"/>
                </a:solidFill>
                <a:latin typeface="Arial"/>
                <a:ea typeface="Arial"/>
              </a:rPr>
              <a:t>Socket API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7A47674-6930-4F40-AA28-F8C300EDA3A2}"/>
              </a:ext>
            </a:extLst>
          </p:cNvPr>
          <p:cNvSpPr txBox="1"/>
          <p:nvPr/>
        </p:nvSpPr>
        <p:spPr>
          <a:xfrm>
            <a:off x="7191375" y="3524250"/>
            <a:ext cx="4143375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87E79"/>
                </a:solidFill>
                <a:latin typeface="Arial"/>
                <a:ea typeface="Arial"/>
              </a:rPr>
              <a:t>HỆ ĐIỀU HÀNH CHỌN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C4FB523-E6F9-47E2-94A4-5F22FFC22E21}"/>
              </a:ext>
            </a:extLst>
          </p:cNvPr>
          <p:cNvSpPr/>
          <p:nvPr/>
        </p:nvSpPr>
        <p:spPr>
          <a:xfrm>
            <a:off x="7124700" y="4067175"/>
            <a:ext cx="4381500" cy="115252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97AD6EB-BD93-4418-8C30-C0064547E3D6}"/>
              </a:ext>
            </a:extLst>
          </p:cNvPr>
          <p:cNvSpPr txBox="1"/>
          <p:nvPr/>
        </p:nvSpPr>
        <p:spPr>
          <a:xfrm>
            <a:off x="7362825" y="4248150"/>
            <a:ext cx="4000500" cy="7810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>
                <a:solidFill>
                  <a:srgbClr val="172F3C"/>
                </a:solidFill>
                <a:latin typeface="Arial"/>
                <a:ea typeface="Arial"/>
              </a:rPr>
              <a:t>IP nguồn  ·  port nguồn tạm thời</a:t>
            </a:r>
            <a:br/>
            <a:r>
              <a:rPr sz="1900">
                <a:solidFill>
                  <a:srgbClr val="172F3C"/>
                </a:solidFill>
                <a:latin typeface="Arial"/>
                <a:ea typeface="Arial"/>
              </a:rPr>
              <a:t>route  ·  giao diện mạng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09197D4-BA60-4579-BFAA-64DB102AAEB5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INTERFACE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988F3E3-2ADD-4103-A211-9A1D80983FC9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Encapsulation: header lồng nhau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568444D-BE5D-4EE6-9BCC-81F1831091A9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09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9185A75-8E63-4846-ACCA-C428F93FBEFC}"/>
              </a:ext>
            </a:extLst>
          </p:cNvPr>
          <p:cNvSpPr/>
          <p:nvPr/>
        </p:nvSpPr>
        <p:spPr>
          <a:xfrm>
            <a:off x="1476375" y="1809750"/>
            <a:ext cx="9239250" cy="374332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2D18DD3-D0BC-4018-B9A6-C61B398001E7}"/>
              </a:ext>
            </a:extLst>
          </p:cNvPr>
          <p:cNvSpPr txBox="1"/>
          <p:nvPr/>
        </p:nvSpPr>
        <p:spPr>
          <a:xfrm>
            <a:off x="1714500" y="1990725"/>
            <a:ext cx="8763000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87E79"/>
                </a:solidFill>
                <a:latin typeface="Arial"/>
                <a:ea typeface="Arial"/>
              </a:rPr>
              <a:t>ETHERNET FRAME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AB861D5-FE50-47B6-B0A6-CE39E4ECF3AD}"/>
              </a:ext>
            </a:extLst>
          </p:cNvPr>
          <p:cNvSpPr/>
          <p:nvPr/>
        </p:nvSpPr>
        <p:spPr>
          <a:xfrm>
            <a:off x="2019300" y="2314575"/>
            <a:ext cx="8143875" cy="2752725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30C17E4-650F-41E0-B80A-00A941F35485}"/>
              </a:ext>
            </a:extLst>
          </p:cNvPr>
          <p:cNvSpPr txBox="1"/>
          <p:nvPr/>
        </p:nvSpPr>
        <p:spPr>
          <a:xfrm>
            <a:off x="2257425" y="2495550"/>
            <a:ext cx="7667625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87E79"/>
                </a:solidFill>
                <a:latin typeface="Arial"/>
                <a:ea typeface="Arial"/>
              </a:rPr>
              <a:t>IP PACKET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F4CB7D0-2B38-494C-9820-48D001ED462D}"/>
              </a:ext>
            </a:extLst>
          </p:cNvPr>
          <p:cNvSpPr/>
          <p:nvPr/>
        </p:nvSpPr>
        <p:spPr>
          <a:xfrm>
            <a:off x="2571750" y="2819400"/>
            <a:ext cx="7038975" cy="1762125"/>
          </a:xfrm>
          <a:prstGeom prst="roundRect">
            <a:avLst/>
          </a:prstGeom>
          <a:solidFill>
            <a:srgbClr val="FFF3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BA2B8D4-6BEC-4210-9119-FFAB357AADD3}"/>
              </a:ext>
            </a:extLst>
          </p:cNvPr>
          <p:cNvSpPr txBox="1"/>
          <p:nvPr/>
        </p:nvSpPr>
        <p:spPr>
          <a:xfrm>
            <a:off x="2809875" y="3000375"/>
            <a:ext cx="6562725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87E79"/>
                </a:solidFill>
                <a:latin typeface="Arial"/>
                <a:ea typeface="Arial"/>
              </a:rPr>
              <a:t>TCP SEGMENT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14DB3A8-79FA-4A1F-B419-55912730452D}"/>
              </a:ext>
            </a:extLst>
          </p:cNvPr>
          <p:cNvSpPr txBox="1"/>
          <p:nvPr/>
        </p:nvSpPr>
        <p:spPr>
          <a:xfrm>
            <a:off x="2838450" y="3714750"/>
            <a:ext cx="6505575" cy="5524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72F3C"/>
                </a:solidFill>
                <a:latin typeface="Arial"/>
                <a:ea typeface="Arial"/>
              </a:rPr>
              <a:t>port  |  seq/ACK  |  data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EBFAB37-68EC-4258-9C5D-DEB5027F8DE3}"/>
              </a:ext>
            </a:extLst>
          </p:cNvPr>
          <p:cNvSpPr txBox="1"/>
          <p:nvPr/>
        </p:nvSpPr>
        <p:spPr>
          <a:xfrm>
            <a:off x="781050" y="5753100"/>
            <a:ext cx="4762500" cy="4095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100">
                <a:solidFill>
                  <a:srgbClr val="172F3C"/>
                </a:solidFill>
                <a:latin typeface="Arial"/>
                <a:ea typeface="Arial"/>
              </a:rPr>
              <a:t>Ứng dụng đưa byte vào TCP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5EAC4E6-CF3C-496A-A951-18A71DE8487F}"/>
              </a:ext>
            </a:extLst>
          </p:cNvPr>
          <p:cNvSpPr txBox="1"/>
          <p:nvPr/>
        </p:nvSpPr>
        <p:spPr>
          <a:xfrm>
            <a:off x="6286500" y="5753100"/>
            <a:ext cx="4953000" cy="4095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087E79"/>
                </a:solidFill>
                <a:latin typeface="Arial"/>
                <a:ea typeface="Arial"/>
              </a:rPr>
              <a:t>Bên nhận bóc theo chiều ngược lại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14A1663-7503-4012-9130-430C5E3459C7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INTERFACE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FD62FEA-7A9F-4E09-B098-14DC49B79416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Nhìn header, thấy quyết định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18C1C6A-F848-4ABB-990A-7EDECEBE7337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10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A32B1C0-C1A5-41A7-95D1-E91207B7DF22}"/>
              </a:ext>
            </a:extLst>
          </p:cNvPr>
          <p:cNvSpPr/>
          <p:nvPr/>
        </p:nvSpPr>
        <p:spPr>
          <a:xfrm>
            <a:off x="666750" y="1590675"/>
            <a:ext cx="10725150" cy="95250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985E47D-F016-4BAB-AFAD-4CEB841D0D01}"/>
              </a:ext>
            </a:extLst>
          </p:cNvPr>
          <p:cNvSpPr txBox="1"/>
          <p:nvPr/>
        </p:nvSpPr>
        <p:spPr>
          <a:xfrm>
            <a:off x="885825" y="1762125"/>
            <a:ext cx="2305050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87E79"/>
                </a:solidFill>
                <a:latin typeface="Arial"/>
                <a:ea typeface="Arial"/>
              </a:rPr>
              <a:t>Ethernet II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B83D91C-775C-4A7B-AF06-10086FA5F84A}"/>
              </a:ext>
            </a:extLst>
          </p:cNvPr>
          <p:cNvSpPr txBox="1"/>
          <p:nvPr/>
        </p:nvSpPr>
        <p:spPr>
          <a:xfrm>
            <a:off x="3143250" y="1771650"/>
            <a:ext cx="2476500" cy="3524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D8912E"/>
                </a:solidFill>
                <a:latin typeface="Arial"/>
                <a:ea typeface="Arial"/>
              </a:rPr>
              <a:t>14 B + FCS 4 B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FA5E760-97B8-42D1-A767-8276D21FF3AC}"/>
              </a:ext>
            </a:extLst>
          </p:cNvPr>
          <p:cNvSpPr txBox="1"/>
          <p:nvPr/>
        </p:nvSpPr>
        <p:spPr>
          <a:xfrm>
            <a:off x="5524500" y="1771650"/>
            <a:ext cx="5410200" cy="5238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172F3C"/>
                </a:solidFill>
                <a:latin typeface="Arial"/>
                <a:ea typeface="Arial"/>
              </a:rPr>
              <a:t>MAC đích · MAC nguồn · EtherType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D4282DF-757C-4049-B9CD-4321E32B2FE1}"/>
              </a:ext>
            </a:extLst>
          </p:cNvPr>
          <p:cNvSpPr/>
          <p:nvPr/>
        </p:nvSpPr>
        <p:spPr>
          <a:xfrm>
            <a:off x="666750" y="2695575"/>
            <a:ext cx="10725150" cy="9525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1C09107-73CD-4739-8466-40BFDAABFCA2}"/>
              </a:ext>
            </a:extLst>
          </p:cNvPr>
          <p:cNvSpPr txBox="1"/>
          <p:nvPr/>
        </p:nvSpPr>
        <p:spPr>
          <a:xfrm>
            <a:off x="885825" y="2867025"/>
            <a:ext cx="2305050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87E79"/>
                </a:solidFill>
                <a:latin typeface="Arial"/>
                <a:ea typeface="Arial"/>
              </a:rPr>
              <a:t>IPv4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32577EA-B359-4E04-A369-340235D56C76}"/>
              </a:ext>
            </a:extLst>
          </p:cNvPr>
          <p:cNvSpPr txBox="1"/>
          <p:nvPr/>
        </p:nvSpPr>
        <p:spPr>
          <a:xfrm>
            <a:off x="3143250" y="2876550"/>
            <a:ext cx="2476500" cy="3524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D8912E"/>
                </a:solidFill>
                <a:latin typeface="Arial"/>
                <a:ea typeface="Arial"/>
              </a:rPr>
              <a:t>tối thiểu 20 B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2173C1F-D873-4B1F-8D42-84ADDF2ABD52}"/>
              </a:ext>
            </a:extLst>
          </p:cNvPr>
          <p:cNvSpPr txBox="1"/>
          <p:nvPr/>
        </p:nvSpPr>
        <p:spPr>
          <a:xfrm>
            <a:off x="5524500" y="2876550"/>
            <a:ext cx="5410200" cy="5238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172F3C"/>
                </a:solidFill>
                <a:latin typeface="Arial"/>
                <a:ea typeface="Arial"/>
              </a:rPr>
              <a:t>IP nguồn/đích · TTL · Protocol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81A853B-B48B-4F51-A090-8FF86B1ED500}"/>
              </a:ext>
            </a:extLst>
          </p:cNvPr>
          <p:cNvSpPr/>
          <p:nvPr/>
        </p:nvSpPr>
        <p:spPr>
          <a:xfrm>
            <a:off x="666750" y="3800475"/>
            <a:ext cx="10725150" cy="95250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62B5C68-A727-44A8-A46D-CC0633CFBEE3}"/>
              </a:ext>
            </a:extLst>
          </p:cNvPr>
          <p:cNvSpPr txBox="1"/>
          <p:nvPr/>
        </p:nvSpPr>
        <p:spPr>
          <a:xfrm>
            <a:off x="885825" y="3971925"/>
            <a:ext cx="2305050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87E79"/>
                </a:solidFill>
                <a:latin typeface="Arial"/>
                <a:ea typeface="Arial"/>
              </a:rPr>
              <a:t>TCP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B893B80-459D-4B3C-B669-09B3D5D32B80}"/>
              </a:ext>
            </a:extLst>
          </p:cNvPr>
          <p:cNvSpPr txBox="1"/>
          <p:nvPr/>
        </p:nvSpPr>
        <p:spPr>
          <a:xfrm>
            <a:off x="3143250" y="3981450"/>
            <a:ext cx="2476500" cy="3524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D8912E"/>
                </a:solidFill>
                <a:latin typeface="Arial"/>
                <a:ea typeface="Arial"/>
              </a:rPr>
              <a:t>tối thiểu 20 B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08D0079-7CC3-46F7-A783-C2E66F64FA49}"/>
              </a:ext>
            </a:extLst>
          </p:cNvPr>
          <p:cNvSpPr txBox="1"/>
          <p:nvPr/>
        </p:nvSpPr>
        <p:spPr>
          <a:xfrm>
            <a:off x="5524500" y="3981450"/>
            <a:ext cx="5410200" cy="5238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172F3C"/>
                </a:solidFill>
                <a:latin typeface="Arial"/>
                <a:ea typeface="Arial"/>
              </a:rPr>
              <a:t>ports · seq · ACK · flags · window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C712E1FA-3B98-4AD8-8FA8-A33746ABEA55}"/>
              </a:ext>
            </a:extLst>
          </p:cNvPr>
          <p:cNvSpPr/>
          <p:nvPr/>
        </p:nvSpPr>
        <p:spPr>
          <a:xfrm>
            <a:off x="666750" y="4905375"/>
            <a:ext cx="10725150" cy="9525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5E4A485-55E3-4548-B214-D52DDEBEA2C9}"/>
              </a:ext>
            </a:extLst>
          </p:cNvPr>
          <p:cNvSpPr txBox="1"/>
          <p:nvPr/>
        </p:nvSpPr>
        <p:spPr>
          <a:xfrm>
            <a:off x="885825" y="5076825"/>
            <a:ext cx="2305050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87E79"/>
                </a:solidFill>
                <a:latin typeface="Arial"/>
                <a:ea typeface="Arial"/>
              </a:rPr>
              <a:t>UDP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00411B4-608F-418F-8AA1-3017F8349715}"/>
              </a:ext>
            </a:extLst>
          </p:cNvPr>
          <p:cNvSpPr txBox="1"/>
          <p:nvPr/>
        </p:nvSpPr>
        <p:spPr>
          <a:xfrm>
            <a:off x="3143250" y="5086350"/>
            <a:ext cx="2476500" cy="3524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D8912E"/>
                </a:solidFill>
                <a:latin typeface="Arial"/>
                <a:ea typeface="Arial"/>
              </a:rPr>
              <a:t>8 B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12F29FA-6754-4462-AE63-B4D9AD3A114D}"/>
              </a:ext>
            </a:extLst>
          </p:cNvPr>
          <p:cNvSpPr txBox="1"/>
          <p:nvPr/>
        </p:nvSpPr>
        <p:spPr>
          <a:xfrm>
            <a:off x="5524500" y="5086350"/>
            <a:ext cx="5410200" cy="5238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172F3C"/>
                </a:solidFill>
                <a:latin typeface="Arial"/>
                <a:ea typeface="Arial"/>
              </a:rPr>
              <a:t>ports · length · checksum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703E00E-46FB-47D5-834F-856C6A50CBD1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INTERFACE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3DD091-162E-488C-81F1-7C20BD438B81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Data structure sống trong stack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E9E2532-AB87-484E-9D24-D7131374B739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11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C83677E-AF32-4383-846F-35E755FD53B5}"/>
              </a:ext>
            </a:extLst>
          </p:cNvPr>
          <p:cNvSpPr/>
          <p:nvPr/>
        </p:nvSpPr>
        <p:spPr>
          <a:xfrm>
            <a:off x="609600" y="1562100"/>
            <a:ext cx="3238500" cy="18669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73EF49B-456A-45AD-8A92-15C0A28E3A41}"/>
              </a:ext>
            </a:extLst>
          </p:cNvPr>
          <p:cNvSpPr txBox="1"/>
          <p:nvPr/>
        </p:nvSpPr>
        <p:spPr>
          <a:xfrm>
            <a:off x="819150" y="1771650"/>
            <a:ext cx="28194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Packet buffer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3BB8168-EAFE-42CC-B320-C6D758EF00F3}"/>
              </a:ext>
            </a:extLst>
          </p:cNvPr>
          <p:cNvSpPr txBox="1"/>
          <p:nvPr/>
        </p:nvSpPr>
        <p:spPr>
          <a:xfrm>
            <a:off x="819150" y="2276475"/>
            <a:ext cx="2819400" cy="990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sk_buff / pbuf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DE9F075-3BA4-4E4E-8FD9-C3C95BA0D5FB}"/>
              </a:ext>
            </a:extLst>
          </p:cNvPr>
          <p:cNvSpPr/>
          <p:nvPr/>
        </p:nvSpPr>
        <p:spPr>
          <a:xfrm>
            <a:off x="4448175" y="1562100"/>
            <a:ext cx="3238500" cy="18669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9D4F369-BE87-4C9C-9C4C-A1164E25E516}"/>
              </a:ext>
            </a:extLst>
          </p:cNvPr>
          <p:cNvSpPr txBox="1"/>
          <p:nvPr/>
        </p:nvSpPr>
        <p:spPr>
          <a:xfrm>
            <a:off x="4657725" y="1771650"/>
            <a:ext cx="28194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Socket / PCB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902A1EE-0F60-4BC5-B886-C2DA34EB3B4E}"/>
              </a:ext>
            </a:extLst>
          </p:cNvPr>
          <p:cNvSpPr txBox="1"/>
          <p:nvPr/>
        </p:nvSpPr>
        <p:spPr>
          <a:xfrm>
            <a:off x="4657725" y="2276475"/>
            <a:ext cx="2819400" cy="990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5-tuple, TCP state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44D022C-9853-4F77-8AC1-35C33F090D6B}"/>
              </a:ext>
            </a:extLst>
          </p:cNvPr>
          <p:cNvSpPr/>
          <p:nvPr/>
        </p:nvSpPr>
        <p:spPr>
          <a:xfrm>
            <a:off x="8286750" y="1562100"/>
            <a:ext cx="3238500" cy="18669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9BEE7ED-79FB-451A-A9D7-EC1A36F7C5B6}"/>
              </a:ext>
            </a:extLst>
          </p:cNvPr>
          <p:cNvSpPr txBox="1"/>
          <p:nvPr/>
        </p:nvSpPr>
        <p:spPr>
          <a:xfrm>
            <a:off x="8496300" y="1771650"/>
            <a:ext cx="28194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FIB + neighbor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2F236C4-23F2-4BC1-BDCA-007C227CDD9B}"/>
              </a:ext>
            </a:extLst>
          </p:cNvPr>
          <p:cNvSpPr txBox="1"/>
          <p:nvPr/>
        </p:nvSpPr>
        <p:spPr>
          <a:xfrm>
            <a:off x="8496300" y="2276475"/>
            <a:ext cx="2819400" cy="990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route, IP → MAC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0C4B244-E5C1-4024-9B85-68B61410F63C}"/>
              </a:ext>
            </a:extLst>
          </p:cNvPr>
          <p:cNvSpPr/>
          <p:nvPr/>
        </p:nvSpPr>
        <p:spPr>
          <a:xfrm>
            <a:off x="609600" y="3857625"/>
            <a:ext cx="3238500" cy="18669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AABBF57-844B-4CDE-AB68-EFE7C29BDAF9}"/>
              </a:ext>
            </a:extLst>
          </p:cNvPr>
          <p:cNvSpPr txBox="1"/>
          <p:nvPr/>
        </p:nvSpPr>
        <p:spPr>
          <a:xfrm>
            <a:off x="819150" y="4067175"/>
            <a:ext cx="28194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Switch FDB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FE44AC1-1790-4690-B8BB-4152678DF708}"/>
              </a:ext>
            </a:extLst>
          </p:cNvPr>
          <p:cNvSpPr txBox="1"/>
          <p:nvPr/>
        </p:nvSpPr>
        <p:spPr>
          <a:xfrm>
            <a:off x="819150" y="4572000"/>
            <a:ext cx="2819400" cy="990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MAC → cổng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85931423-DECB-4FD7-8F52-71081CC441DA}"/>
              </a:ext>
            </a:extLst>
          </p:cNvPr>
          <p:cNvSpPr/>
          <p:nvPr/>
        </p:nvSpPr>
        <p:spPr>
          <a:xfrm>
            <a:off x="4448175" y="3857625"/>
            <a:ext cx="3238500" cy="18669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1A5EB4D-EE98-47F7-A54F-119030E60795}"/>
              </a:ext>
            </a:extLst>
          </p:cNvPr>
          <p:cNvSpPr txBox="1"/>
          <p:nvPr/>
        </p:nvSpPr>
        <p:spPr>
          <a:xfrm>
            <a:off x="4657725" y="4067175"/>
            <a:ext cx="28194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NAT conntrack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A6C357A-3280-416E-A965-780D95EECF3E}"/>
              </a:ext>
            </a:extLst>
          </p:cNvPr>
          <p:cNvSpPr txBox="1"/>
          <p:nvPr/>
        </p:nvSpPr>
        <p:spPr>
          <a:xfrm>
            <a:off x="4657725" y="4572000"/>
            <a:ext cx="2819400" cy="990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private ↔ public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F511D9C4-27C8-4EC3-8E25-22AB134A3737}"/>
              </a:ext>
            </a:extLst>
          </p:cNvPr>
          <p:cNvSpPr/>
          <p:nvPr/>
        </p:nvSpPr>
        <p:spPr>
          <a:xfrm>
            <a:off x="8286750" y="3857625"/>
            <a:ext cx="3238500" cy="18669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1FC63C2-3D9F-4117-969E-55B4F2E84EF0}"/>
              </a:ext>
            </a:extLst>
          </p:cNvPr>
          <p:cNvSpPr txBox="1"/>
          <p:nvPr/>
        </p:nvSpPr>
        <p:spPr>
          <a:xfrm>
            <a:off x="8496300" y="4067175"/>
            <a:ext cx="28194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NIC TX/RX ring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0276C2D-AF44-419A-95CE-53B5D769956E}"/>
              </a:ext>
            </a:extLst>
          </p:cNvPr>
          <p:cNvSpPr txBox="1"/>
          <p:nvPr/>
        </p:nvSpPr>
        <p:spPr>
          <a:xfrm>
            <a:off x="8496300" y="4572000"/>
            <a:ext cx="2819400" cy="990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DMA descriptor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A7960D8-D6DA-4C26-9AF2-229E7A07ADCC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TẦNG 1–2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89E1AE7-B281-41ED-9A83-EFF0CD55BA56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Ethernet: từ MCU tới dây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D31F1ED-9937-4F7A-BF44-2CFBC189FB1C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12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CCF8847-7DAB-4488-A810-3F2693D62B1B}"/>
              </a:ext>
            </a:extLst>
          </p:cNvPr>
          <p:cNvSpPr/>
          <p:nvPr/>
        </p:nvSpPr>
        <p:spPr>
          <a:xfrm>
            <a:off x="628650" y="1962150"/>
            <a:ext cx="1743075" cy="146685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87E79"/>
                </a:solidFill>
                <a:latin typeface="Arial"/>
                <a:ea typeface="Arial"/>
              </a:rPr>
              <a:t>APP / lwIP</a:t>
            </a:r>
          </a:p>
        </p:txBody>
      </p:sp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E7FD82E3-8586-4A87-869D-D65DB922F8D2}"/>
              </a:ext>
            </a:extLst>
          </p:cNvPr>
          <p:cNvCxnSpPr/>
          <p:nvPr/>
        </p:nvCxnSpPr>
        <p:spPr>
          <a:xfrm>
            <a:off x="2505075" y="2686050"/>
            <a:ext cx="485775" cy="9525"/>
          </a:xfrm>
          <a:prstGeom prst="straightConnector1">
            <a:avLst/>
          </a:prstGeom>
          <a:ln w="38100" cap="flat">
            <a:solidFill>
              <a:srgbClr val="087E79"/>
            </a:solidFill>
            <a:tailEnd type="triangle" w="med" len="med"/>
          </a:ln>
        </p:spPr>
      </p:cxnSp>
      <p:sp>
        <p:nvSpPr>
          <p:cNvPr id="8" name="Shape 8">
            <a:extLst>
              <a:ext uri="{FF2B5EF4-FFF2-40B4-BE49-F238E27FC236}">
                <a16:creationId xmlns:a16="http://schemas.microsoft.com/office/drawing/2014/main" id="{71676833-9785-481C-926A-89FD6EBD7591}"/>
              </a:ext>
            </a:extLst>
          </p:cNvPr>
          <p:cNvSpPr/>
          <p:nvPr/>
        </p:nvSpPr>
        <p:spPr>
          <a:xfrm>
            <a:off x="2828925" y="1962150"/>
            <a:ext cx="1428750" cy="14668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87E79"/>
                </a:solidFill>
                <a:latin typeface="Arial"/>
                <a:ea typeface="Arial"/>
              </a:rPr>
              <a:t>MAC</a:t>
            </a:r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60F6C9B2-4D46-428C-B16D-AE691810A00A}"/>
              </a:ext>
            </a:extLst>
          </p:cNvPr>
          <p:cNvCxnSpPr/>
          <p:nvPr/>
        </p:nvCxnSpPr>
        <p:spPr>
          <a:xfrm>
            <a:off x="4391025" y="2686050"/>
            <a:ext cx="485775" cy="9525"/>
          </a:xfrm>
          <a:prstGeom prst="straightConnector1">
            <a:avLst/>
          </a:prstGeom>
          <a:ln w="38100" cap="flat">
            <a:solidFill>
              <a:srgbClr val="087E79"/>
            </a:solidFill>
            <a:tailEnd type="triangle" w="med" len="med"/>
          </a:ln>
        </p:spPr>
      </p:cxnSp>
      <p:sp>
        <p:nvSpPr>
          <p:cNvPr id="10" name="Shape 10">
            <a:extLst>
              <a:ext uri="{FF2B5EF4-FFF2-40B4-BE49-F238E27FC236}">
                <a16:creationId xmlns:a16="http://schemas.microsoft.com/office/drawing/2014/main" id="{E812785A-05C2-4EF6-8E71-95E61AB6F10E}"/>
              </a:ext>
            </a:extLst>
          </p:cNvPr>
          <p:cNvSpPr/>
          <p:nvPr/>
        </p:nvSpPr>
        <p:spPr>
          <a:xfrm>
            <a:off x="5019675" y="1962150"/>
            <a:ext cx="1428750" cy="146685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87E79"/>
                </a:solidFill>
                <a:latin typeface="Arial"/>
                <a:ea typeface="Arial"/>
              </a:rPr>
              <a:t>PHY</a:t>
            </a:r>
          </a:p>
        </p:txBody>
      </p: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55EE1F9B-B20C-45F1-9928-8731E2D81D5B}"/>
              </a:ext>
            </a:extLst>
          </p:cNvPr>
          <p:cNvCxnSpPr/>
          <p:nvPr/>
        </p:nvCxnSpPr>
        <p:spPr>
          <a:xfrm>
            <a:off x="6581775" y="2686050"/>
            <a:ext cx="485775" cy="9525"/>
          </a:xfrm>
          <a:prstGeom prst="straightConnector1">
            <a:avLst/>
          </a:prstGeom>
          <a:ln w="38100" cap="flat">
            <a:solidFill>
              <a:srgbClr val="087E79"/>
            </a:solidFill>
            <a:tailEnd type="triangle" w="med" len="med"/>
          </a:ln>
        </p:spPr>
      </p:cxnSp>
      <p:sp>
        <p:nvSpPr>
          <p:cNvPr id="12" name="Shape 12">
            <a:extLst>
              <a:ext uri="{FF2B5EF4-FFF2-40B4-BE49-F238E27FC236}">
                <a16:creationId xmlns:a16="http://schemas.microsoft.com/office/drawing/2014/main" id="{98BE6987-0581-4E5C-A08B-5EDE8D9936D6}"/>
              </a:ext>
            </a:extLst>
          </p:cNvPr>
          <p:cNvSpPr/>
          <p:nvPr/>
        </p:nvSpPr>
        <p:spPr>
          <a:xfrm>
            <a:off x="7200900" y="1962150"/>
            <a:ext cx="1428750" cy="14668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87E79"/>
                </a:solidFill>
                <a:latin typeface="Arial"/>
                <a:ea typeface="Arial"/>
              </a:rPr>
              <a:t>CÁP</a:t>
            </a:r>
          </a:p>
        </p:txBody>
      </p:sp>
      <p:cxnSp>
        <p:nvCxnSpPr>
          <p:cNvPr id="13" name="Straight Connector 13">
            <a:extLst>
              <a:ext uri="{FF2B5EF4-FFF2-40B4-BE49-F238E27FC236}">
                <a16:creationId xmlns:a16="http://schemas.microsoft.com/office/drawing/2014/main" id="{88FBB958-CF0A-4BEB-8761-F7A3DCAF0D16}"/>
              </a:ext>
            </a:extLst>
          </p:cNvPr>
          <p:cNvCxnSpPr/>
          <p:nvPr/>
        </p:nvCxnSpPr>
        <p:spPr>
          <a:xfrm>
            <a:off x="8763000" y="2686050"/>
            <a:ext cx="485775" cy="9525"/>
          </a:xfrm>
          <a:prstGeom prst="straightConnector1">
            <a:avLst/>
          </a:prstGeom>
          <a:ln w="38100" cap="flat">
            <a:solidFill>
              <a:srgbClr val="087E79"/>
            </a:solidFill>
            <a:tailEnd type="triangle" w="med" len="med"/>
          </a:ln>
        </p:spPr>
      </p:cxnSp>
      <p:sp>
        <p:nvSpPr>
          <p:cNvPr id="14" name="Shape 14">
            <a:extLst>
              <a:ext uri="{FF2B5EF4-FFF2-40B4-BE49-F238E27FC236}">
                <a16:creationId xmlns:a16="http://schemas.microsoft.com/office/drawing/2014/main" id="{EFADFA78-AEC5-4105-A415-7BC6E9BA5842}"/>
              </a:ext>
            </a:extLst>
          </p:cNvPr>
          <p:cNvSpPr/>
          <p:nvPr/>
        </p:nvSpPr>
        <p:spPr>
          <a:xfrm>
            <a:off x="9382125" y="1962150"/>
            <a:ext cx="1990725" cy="146685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87E79"/>
                </a:solidFill>
                <a:latin typeface="Arial"/>
                <a:ea typeface="Arial"/>
              </a:rPr>
              <a:t>SWITCH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33EB049-E6AB-4681-A2BF-76507D0CA8FC}"/>
              </a:ext>
            </a:extLst>
          </p:cNvPr>
          <p:cNvSpPr/>
          <p:nvPr/>
        </p:nvSpPr>
        <p:spPr>
          <a:xfrm>
            <a:off x="2762250" y="3924300"/>
            <a:ext cx="5210175" cy="590550"/>
          </a:xfrm>
          <a:prstGeom prst="roundRect">
            <a:avLst/>
          </a:prstGeom>
          <a:solidFill>
            <a:srgbClr val="FFF3DD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172F3C"/>
                </a:solidFill>
                <a:latin typeface="Arial"/>
                <a:ea typeface="Arial"/>
              </a:rPr>
              <a:t>RMII / RGMII: dữ liệu MAC↔PHY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BEA992C-ED7C-495E-BD9D-73A9555187E5}"/>
              </a:ext>
            </a:extLst>
          </p:cNvPr>
          <p:cNvSpPr/>
          <p:nvPr/>
        </p:nvSpPr>
        <p:spPr>
          <a:xfrm>
            <a:off x="4000500" y="4714875"/>
            <a:ext cx="3162300" cy="5905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087E79"/>
                </a:solidFill>
                <a:latin typeface="Arial"/>
                <a:ea typeface="Arial"/>
              </a:rPr>
              <a:t>MDIO: cấu hình PHY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D64473F-2DEF-4DDC-8E1A-A10CE886E6BF}"/>
              </a:ext>
            </a:extLst>
          </p:cNvPr>
          <p:cNvSpPr txBox="1"/>
          <p:nvPr/>
        </p:nvSpPr>
        <p:spPr>
          <a:xfrm>
            <a:off x="952500" y="5724525"/>
            <a:ext cx="1023937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900">
                <a:solidFill>
                  <a:srgbClr val="5F7580"/>
                </a:solidFill>
                <a:latin typeface="Arial"/>
                <a:ea typeface="Arial"/>
              </a:rPr>
              <a:t>10/100/1000BASE-T  ·  100/1000BASE-T1  ·  10BASE-T1L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CFDF525-3F2F-413F-B10A-48C2D87BA7F0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TẦNG 1–2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93975CF-7165-4098-90BC-09FEE2A691D3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Wi-Fi là một liên kết khác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4433CF4-557F-4E1C-943C-C33E7EC4037B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13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EC6AEAB-5DDA-4D82-9E97-0CBF5E346803}"/>
              </a:ext>
            </a:extLst>
          </p:cNvPr>
          <p:cNvSpPr/>
          <p:nvPr/>
        </p:nvSpPr>
        <p:spPr>
          <a:xfrm>
            <a:off x="647700" y="1619250"/>
            <a:ext cx="5219700" cy="415290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3D4B5E6-EA55-4FF9-AC86-ADC789F61E0B}"/>
              </a:ext>
            </a:extLst>
          </p:cNvPr>
          <p:cNvSpPr txBox="1"/>
          <p:nvPr/>
        </p:nvSpPr>
        <p:spPr>
          <a:xfrm>
            <a:off x="904875" y="1866900"/>
            <a:ext cx="4762500" cy="4191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87E79"/>
                </a:solidFill>
                <a:latin typeface="Arial"/>
                <a:ea typeface="Arial"/>
              </a:rPr>
              <a:t>Wi-Fi 802.11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EF51CA4-71FD-46CA-8744-3A1C04EAD1F1}"/>
              </a:ext>
            </a:extLst>
          </p:cNvPr>
          <p:cNvSpPr txBox="1"/>
          <p:nvPr/>
        </p:nvSpPr>
        <p:spPr>
          <a:xfrm>
            <a:off x="904875" y="2524125"/>
            <a:ext cx="4686300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72F3C"/>
                </a:solidFill>
                <a:latin typeface="Arial"/>
                <a:ea typeface="Arial"/>
              </a:rPr>
              <a:t>scan → authenticate → associate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301B961-DEA4-4499-A4A2-42134C6B8796}"/>
              </a:ext>
            </a:extLst>
          </p:cNvPr>
          <p:cNvSpPr txBox="1"/>
          <p:nvPr/>
        </p:nvSpPr>
        <p:spPr>
          <a:xfrm>
            <a:off x="904875" y="3667125"/>
            <a:ext cx="4657725" cy="762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>
                <a:solidFill>
                  <a:srgbClr val="172F3C"/>
                </a:solidFill>
                <a:latin typeface="Arial"/>
                <a:ea typeface="Arial"/>
              </a:rPr>
              <a:t>CSMA/CA · L2 ACK · WPA2/WPA3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AE9D1AA-B222-45F8-8941-E2FEE18FA064}"/>
              </a:ext>
            </a:extLst>
          </p:cNvPr>
          <p:cNvSpPr/>
          <p:nvPr/>
        </p:nvSpPr>
        <p:spPr>
          <a:xfrm>
            <a:off x="6315075" y="1619250"/>
            <a:ext cx="5219700" cy="41529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0464C0A-A6DC-472D-9027-95C002807778}"/>
              </a:ext>
            </a:extLst>
          </p:cNvPr>
          <p:cNvSpPr txBox="1"/>
          <p:nvPr/>
        </p:nvSpPr>
        <p:spPr>
          <a:xfrm>
            <a:off x="6572250" y="1866900"/>
            <a:ext cx="4572000" cy="4191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87E79"/>
                </a:solidFill>
                <a:latin typeface="Arial"/>
                <a:ea typeface="Arial"/>
              </a:rPr>
              <a:t>Ethernet qua switch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1D4D44D-90F1-4A98-8C75-D9A6337ED968}"/>
              </a:ext>
            </a:extLst>
          </p:cNvPr>
          <p:cNvSpPr txBox="1"/>
          <p:nvPr/>
        </p:nvSpPr>
        <p:spPr>
          <a:xfrm>
            <a:off x="6572250" y="2524125"/>
            <a:ext cx="4543425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72F3C"/>
                </a:solidFill>
                <a:latin typeface="Arial"/>
                <a:ea typeface="Arial"/>
              </a:rPr>
              <a:t>frame MAC đích/nguồn · FCS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2645DFF-FBA2-4829-8977-05D1E77815D4}"/>
              </a:ext>
            </a:extLst>
          </p:cNvPr>
          <p:cNvSpPr txBox="1"/>
          <p:nvPr/>
        </p:nvSpPr>
        <p:spPr>
          <a:xfrm>
            <a:off x="6572250" y="3667125"/>
            <a:ext cx="4467225" cy="9334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>
                <a:solidFill>
                  <a:srgbClr val="172F3C"/>
                </a:solidFill>
                <a:latin typeface="Arial"/>
                <a:ea typeface="Arial"/>
              </a:rPr>
              <a:t>Full duplex phổ biến; không dùng CSMA/CD trong mạng switch hiện đại.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B4DBAE7-38AF-416F-BEAD-3E476C5BEA68}"/>
              </a:ext>
            </a:extLst>
          </p:cNvPr>
          <p:cNvSpPr txBox="1"/>
          <p:nvPr/>
        </p:nvSpPr>
        <p:spPr>
          <a:xfrm>
            <a:off x="876300" y="5991225"/>
            <a:ext cx="10382250" cy="342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5F7580"/>
                </a:solidFill>
                <a:latin typeface="Arial"/>
                <a:ea typeface="Arial"/>
              </a:rPr>
              <a:t>Wi-Fi 4/5/6/7 = 802.11n/ac/ax/be. Tốc độ PHY ≠ throughput ứng dụng.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F2619C2-E030-4E8B-8BE8-838280F7BD13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TẦNG 1–2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9E068EE-73C0-4F23-8EE5-20E73E09D268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Embedded không chỉ có Ethernet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A226133-91A5-4095-8C55-2F00BCBAD885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14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314AF40-74BE-4F08-BD06-1CA28BDA6BD7}"/>
              </a:ext>
            </a:extLst>
          </p:cNvPr>
          <p:cNvSpPr/>
          <p:nvPr/>
        </p:nvSpPr>
        <p:spPr>
          <a:xfrm>
            <a:off x="685800" y="1600200"/>
            <a:ext cx="5095875" cy="19431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22C4AE6-5F91-413E-B62B-52FB78001B63}"/>
              </a:ext>
            </a:extLst>
          </p:cNvPr>
          <p:cNvSpPr txBox="1"/>
          <p:nvPr/>
        </p:nvSpPr>
        <p:spPr>
          <a:xfrm>
            <a:off x="895350" y="1809750"/>
            <a:ext cx="467677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BLE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931EA20-B576-43FD-AA71-BCEBA9715CE3}"/>
              </a:ext>
            </a:extLst>
          </p:cNvPr>
          <p:cNvSpPr txBox="1"/>
          <p:nvPr/>
        </p:nvSpPr>
        <p:spPr>
          <a:xfrm>
            <a:off x="895350" y="2314575"/>
            <a:ext cx="4676775" cy="10668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Stack riêng; không tự động có IP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9FDEEF5-4E54-44AE-8F02-400D203152F7}"/>
              </a:ext>
            </a:extLst>
          </p:cNvPr>
          <p:cNvSpPr/>
          <p:nvPr/>
        </p:nvSpPr>
        <p:spPr>
          <a:xfrm>
            <a:off x="6153150" y="1600200"/>
            <a:ext cx="5095875" cy="19431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DF8D821-60FD-44C5-A601-99DAE20CE6B8}"/>
              </a:ext>
            </a:extLst>
          </p:cNvPr>
          <p:cNvSpPr txBox="1"/>
          <p:nvPr/>
        </p:nvSpPr>
        <p:spPr>
          <a:xfrm>
            <a:off x="6362700" y="1809750"/>
            <a:ext cx="467677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802.15.4 / Thread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F642EF8-2DD6-42F7-A79E-49251261AFDD}"/>
              </a:ext>
            </a:extLst>
          </p:cNvPr>
          <p:cNvSpPr txBox="1"/>
          <p:nvPr/>
        </p:nvSpPr>
        <p:spPr>
          <a:xfrm>
            <a:off x="6362700" y="2314575"/>
            <a:ext cx="4676775" cy="10668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Thread dùng IPv6/6LoWPAN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824F377-A591-40BD-9369-88CFD0A89A3E}"/>
              </a:ext>
            </a:extLst>
          </p:cNvPr>
          <p:cNvSpPr/>
          <p:nvPr/>
        </p:nvSpPr>
        <p:spPr>
          <a:xfrm>
            <a:off x="685800" y="3838575"/>
            <a:ext cx="5095875" cy="19431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7CB8D2B-EBA3-4E6B-B760-240AA67FCAD0}"/>
              </a:ext>
            </a:extLst>
          </p:cNvPr>
          <p:cNvSpPr txBox="1"/>
          <p:nvPr/>
        </p:nvSpPr>
        <p:spPr>
          <a:xfrm>
            <a:off x="895350" y="4048125"/>
            <a:ext cx="467677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Cellular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96C6418-B4C3-46A3-8040-18A729AC590D}"/>
              </a:ext>
            </a:extLst>
          </p:cNvPr>
          <p:cNvSpPr txBox="1"/>
          <p:nvPr/>
        </p:nvSpPr>
        <p:spPr>
          <a:xfrm>
            <a:off x="895350" y="4552950"/>
            <a:ext cx="4676775" cy="10668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Modem có thể cấp đường IP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142BFF8-DBD8-4269-BEE0-97234F6255D3}"/>
              </a:ext>
            </a:extLst>
          </p:cNvPr>
          <p:cNvSpPr/>
          <p:nvPr/>
        </p:nvSpPr>
        <p:spPr>
          <a:xfrm>
            <a:off x="6153150" y="3838575"/>
            <a:ext cx="5095875" cy="19431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90D721B-AA63-4C4C-8286-EC8EBE9634B0}"/>
              </a:ext>
            </a:extLst>
          </p:cNvPr>
          <p:cNvSpPr txBox="1"/>
          <p:nvPr/>
        </p:nvSpPr>
        <p:spPr>
          <a:xfrm>
            <a:off x="6362700" y="4048125"/>
            <a:ext cx="467677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CAN · RS-485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CFC1E4B-EB35-414C-8CAA-7A0F330FE068}"/>
              </a:ext>
            </a:extLst>
          </p:cNvPr>
          <p:cNvSpPr txBox="1"/>
          <p:nvPr/>
        </p:nvSpPr>
        <p:spPr>
          <a:xfrm>
            <a:off x="6362700" y="4552950"/>
            <a:ext cx="4676775" cy="10668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CAN có frame; RS-485 là chuẩn điện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89DE2E4-8C41-48D4-AB24-5BFF887B4C84}"/>
              </a:ext>
            </a:extLst>
          </p:cNvPr>
          <p:cNvSpPr txBox="1"/>
          <p:nvPr/>
        </p:nvSpPr>
        <p:spPr>
          <a:xfrm>
            <a:off x="781050" y="6086475"/>
            <a:ext cx="10515600" cy="4095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5F7580"/>
                </a:solidFill>
                <a:latin typeface="Arial"/>
                <a:ea typeface="Arial"/>
              </a:rPr>
              <a:t>Cùng app MQTT có thể tái dùng trên nhiều link nếu stack cung cấp IP và xử lý tốt MTU, độ trễ, reconnect.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A221E21-E132-41F1-9998-84AD35AB536A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TẦNG 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8F8ECF7-E44F-4933-9677-4C009CB37B4C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IP và subnet: trực tiếp hay gateway?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75F3469-F959-4EC3-BA11-CA66710802F5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15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BA3E202-3DBB-4AE5-A10D-6BC797C69354}"/>
              </a:ext>
            </a:extLst>
          </p:cNvPr>
          <p:cNvSpPr/>
          <p:nvPr/>
        </p:nvSpPr>
        <p:spPr>
          <a:xfrm>
            <a:off x="666750" y="1657350"/>
            <a:ext cx="10734675" cy="32194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10016B4-34D1-4AEC-A258-06C26FFF47A1}"/>
              </a:ext>
            </a:extLst>
          </p:cNvPr>
          <p:cNvSpPr txBox="1"/>
          <p:nvPr/>
        </p:nvSpPr>
        <p:spPr>
          <a:xfrm>
            <a:off x="981075" y="1971675"/>
            <a:ext cx="5791200" cy="7239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087E79"/>
                </a:solidFill>
                <a:latin typeface="Cambria"/>
                <a:ea typeface="Cambria"/>
              </a:rPr>
              <a:t>192.168.1.10 /24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B495097-4DA3-4382-AFB9-E469FA91EF03}"/>
              </a:ext>
            </a:extLst>
          </p:cNvPr>
          <p:cNvSpPr txBox="1"/>
          <p:nvPr/>
        </p:nvSpPr>
        <p:spPr>
          <a:xfrm>
            <a:off x="1019175" y="2876550"/>
            <a:ext cx="9810750" cy="5238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600">
                <a:solidFill>
                  <a:srgbClr val="172F3C"/>
                </a:solidFill>
                <a:latin typeface="Arial"/>
                <a:ea typeface="Arial"/>
              </a:rPr>
              <a:t>AND 255.255.255.0  →  192.168.1.0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A7A0956-9797-493F-B25D-6AF95E9EB965}"/>
              </a:ext>
            </a:extLst>
          </p:cNvPr>
          <p:cNvSpPr txBox="1"/>
          <p:nvPr/>
        </p:nvSpPr>
        <p:spPr>
          <a:xfrm>
            <a:off x="1019175" y="3648075"/>
            <a:ext cx="9810750" cy="5238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600">
                <a:solidFill>
                  <a:srgbClr val="172F3C"/>
                </a:solidFill>
                <a:latin typeface="Arial"/>
                <a:ea typeface="Arial"/>
              </a:rPr>
              <a:t>198.51.100.20   →  198.51.100.0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555FBEF-697B-46F8-A168-5BAAD3E663E3}"/>
              </a:ext>
            </a:extLst>
          </p:cNvPr>
          <p:cNvSpPr/>
          <p:nvPr/>
        </p:nvSpPr>
        <p:spPr>
          <a:xfrm>
            <a:off x="685800" y="5219700"/>
            <a:ext cx="10706100" cy="723900"/>
          </a:xfrm>
          <a:prstGeom prst="roundRect">
            <a:avLst/>
          </a:prstGeom>
          <a:solidFill>
            <a:srgbClr val="FFF3DD"/>
          </a:solidFill>
        </p:spPr>
        <p:txBody>
          <a:bodyPr wrap="square" rtlCol="0" lIns="0" tIns="0" rIns="0" bIns="0" anchor="ctr"/>
          <a:lstStyle/>
          <a:p>
            <a:pPr algn="ctr"/>
            <a:r>
              <a:rPr sz="2300" b="1">
                <a:solidFill>
                  <a:srgbClr val="172F3C"/>
                </a:solidFill>
                <a:latin typeface="Arial"/>
                <a:ea typeface="Arial"/>
              </a:rPr>
              <a:t>Khác subnet  →  dùng route mặc định qua gateway 192.168.1.1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347351E-0EC5-4C94-93BD-289850AEE398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TẦNG 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8C46031-0A7B-4A13-BEBA-71B9472AC5A2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ARP tìm MAC của chặng kế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F201534-EB40-49EC-8E9C-AE211B964CC8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16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4AED2C5-6973-44A1-8574-2DC41A3CB2AA}"/>
              </a:ext>
            </a:extLst>
          </p:cNvPr>
          <p:cNvSpPr/>
          <p:nvPr/>
        </p:nvSpPr>
        <p:spPr>
          <a:xfrm>
            <a:off x="657225" y="2000250"/>
            <a:ext cx="3133725" cy="18859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EFF5966-8320-4C93-875E-F2B9A93BFD23}"/>
              </a:ext>
            </a:extLst>
          </p:cNvPr>
          <p:cNvSpPr txBox="1"/>
          <p:nvPr/>
        </p:nvSpPr>
        <p:spPr>
          <a:xfrm>
            <a:off x="885825" y="2238375"/>
            <a:ext cx="2667000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87E79"/>
                </a:solidFill>
                <a:latin typeface="Arial"/>
                <a:ea typeface="Arial"/>
              </a:rPr>
              <a:t>MÁY A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D4049A0-4687-45B7-A612-2AA49C854D58}"/>
              </a:ext>
            </a:extLst>
          </p:cNvPr>
          <p:cNvSpPr txBox="1"/>
          <p:nvPr/>
        </p:nvSpPr>
        <p:spPr>
          <a:xfrm>
            <a:off x="876300" y="3038475"/>
            <a:ext cx="2686050" cy="4191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72F3C"/>
                </a:solidFill>
                <a:latin typeface="Arial"/>
                <a:ea typeface="Arial"/>
              </a:rPr>
              <a:t>192.168.1.10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98FFA8A-3AEB-4F11-9F8D-97A3E48140DB}"/>
              </a:ext>
            </a:extLst>
          </p:cNvPr>
          <p:cNvSpPr/>
          <p:nvPr/>
        </p:nvSpPr>
        <p:spPr>
          <a:xfrm>
            <a:off x="4476750" y="2000250"/>
            <a:ext cx="3133725" cy="188595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1772BE2-8542-4C24-AAD5-43C55FAB9C7D}"/>
              </a:ext>
            </a:extLst>
          </p:cNvPr>
          <p:cNvSpPr txBox="1"/>
          <p:nvPr/>
        </p:nvSpPr>
        <p:spPr>
          <a:xfrm>
            <a:off x="4705350" y="2238375"/>
            <a:ext cx="2667000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87E79"/>
                </a:solidFill>
                <a:latin typeface="Arial"/>
                <a:ea typeface="Arial"/>
              </a:rPr>
              <a:t>GATEWAY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4E9897C-FC09-4616-9A4D-1014AB46F963}"/>
              </a:ext>
            </a:extLst>
          </p:cNvPr>
          <p:cNvSpPr txBox="1"/>
          <p:nvPr/>
        </p:nvSpPr>
        <p:spPr>
          <a:xfrm>
            <a:off x="4695825" y="3038475"/>
            <a:ext cx="2686050" cy="4191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72F3C"/>
                </a:solidFill>
                <a:latin typeface="Arial"/>
                <a:ea typeface="Arial"/>
              </a:rPr>
              <a:t>192.168.1.1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078CEFA-FE44-484F-AF2A-2E401F3A45F6}"/>
              </a:ext>
            </a:extLst>
          </p:cNvPr>
          <p:cNvSpPr/>
          <p:nvPr/>
        </p:nvSpPr>
        <p:spPr>
          <a:xfrm>
            <a:off x="8315325" y="2000250"/>
            <a:ext cx="3133725" cy="18859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9F0E4AC-0833-4F81-8A4C-0CAFB7686D96}"/>
              </a:ext>
            </a:extLst>
          </p:cNvPr>
          <p:cNvSpPr txBox="1"/>
          <p:nvPr/>
        </p:nvSpPr>
        <p:spPr>
          <a:xfrm>
            <a:off x="8543925" y="2238375"/>
            <a:ext cx="2667000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87E79"/>
                </a:solidFill>
                <a:latin typeface="Arial"/>
                <a:ea typeface="Arial"/>
              </a:rPr>
              <a:t>SERVER B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B5C05F1-4853-4EF8-BEED-15A9F7EC1605}"/>
              </a:ext>
            </a:extLst>
          </p:cNvPr>
          <p:cNvSpPr txBox="1"/>
          <p:nvPr/>
        </p:nvSpPr>
        <p:spPr>
          <a:xfrm>
            <a:off x="8534400" y="3038475"/>
            <a:ext cx="2686050" cy="4191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72F3C"/>
                </a:solidFill>
                <a:latin typeface="Arial"/>
                <a:ea typeface="Arial"/>
              </a:rPr>
              <a:t>198.51.100.20</a:t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FE495EB2-97AF-4646-9486-CC10CA2ADA5A}"/>
              </a:ext>
            </a:extLst>
          </p:cNvPr>
          <p:cNvCxnSpPr/>
          <p:nvPr/>
        </p:nvCxnSpPr>
        <p:spPr>
          <a:xfrm>
            <a:off x="3800475" y="2952750"/>
            <a:ext cx="657225" cy="9525"/>
          </a:xfrm>
          <a:prstGeom prst="straightConnector1">
            <a:avLst/>
          </a:prstGeom>
          <a:ln w="50800" cap="flat">
            <a:solidFill>
              <a:srgbClr val="087E79"/>
            </a:solidFill>
            <a:tailEnd type="triangle" w="med" len="med"/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F551C108-7C8C-4DDB-8EB3-0CCDB6030399}"/>
              </a:ext>
            </a:extLst>
          </p:cNvPr>
          <p:cNvCxnSpPr/>
          <p:nvPr/>
        </p:nvCxnSpPr>
        <p:spPr>
          <a:xfrm>
            <a:off x="7620000" y="2952750"/>
            <a:ext cx="685800" cy="9525"/>
          </a:xfrm>
          <a:prstGeom prst="straightConnector1">
            <a:avLst/>
          </a:prstGeom>
          <a:ln w="50800" cap="flat">
            <a:solidFill>
              <a:srgbClr val="087E79"/>
            </a:solidFill>
            <a:tailEnd type="triangle" w="med" len="med"/>
          </a:ln>
        </p:spPr>
      </p:cxnSp>
      <p:sp>
        <p:nvSpPr>
          <p:cNvPr id="17" name="TextBox 17">
            <a:extLst>
              <a:ext uri="{FF2B5EF4-FFF2-40B4-BE49-F238E27FC236}">
                <a16:creationId xmlns:a16="http://schemas.microsoft.com/office/drawing/2014/main" id="{F8F1DA2F-3CB2-4EC2-8880-8213906BF583}"/>
              </a:ext>
            </a:extLst>
          </p:cNvPr>
          <p:cNvSpPr txBox="1"/>
          <p:nvPr/>
        </p:nvSpPr>
        <p:spPr>
          <a:xfrm>
            <a:off x="6457950" y="4591050"/>
            <a:ext cx="4714875" cy="5619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72F3C"/>
                </a:solidFill>
                <a:latin typeface="Arial"/>
                <a:ea typeface="Arial"/>
              </a:rPr>
              <a:t>IP đích trong packet = IP server B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E4B2E18-E930-47FD-90BE-5286A5136F79}"/>
              </a:ext>
            </a:extLst>
          </p:cNvPr>
          <p:cNvSpPr/>
          <p:nvPr/>
        </p:nvSpPr>
        <p:spPr>
          <a:xfrm>
            <a:off x="1590675" y="4495800"/>
            <a:ext cx="4410075" cy="561975"/>
          </a:xfrm>
          <a:prstGeom prst="roundRect">
            <a:avLst/>
          </a:prstGeom>
          <a:solidFill>
            <a:srgbClr val="FFF3DD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172F3C"/>
                </a:solidFill>
                <a:latin typeface="Arial"/>
                <a:ea typeface="Arial"/>
              </a:rPr>
              <a:t>MAC đích frame đầu = MAC gateway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7153074-F4DA-482E-9242-8685BFFA2461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TẦNG 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998715F-85AA-4EB2-89B8-2858BAD52FEB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Router thay cái gì?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F36749E-F4B1-4067-8311-E924BF9C4E14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17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4631361-DDA3-41F7-8EB1-A051B7EB5524}"/>
              </a:ext>
            </a:extLst>
          </p:cNvPr>
          <p:cNvSpPr/>
          <p:nvPr/>
        </p:nvSpPr>
        <p:spPr>
          <a:xfrm>
            <a:off x="638175" y="1571625"/>
            <a:ext cx="5114925" cy="185737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2F9045B-B0E6-4748-AF8E-3BF2A07EA641}"/>
              </a:ext>
            </a:extLst>
          </p:cNvPr>
          <p:cNvSpPr txBox="1"/>
          <p:nvPr/>
        </p:nvSpPr>
        <p:spPr>
          <a:xfrm>
            <a:off x="847725" y="1781175"/>
            <a:ext cx="469582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1  Bóc L2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A1C8141-8C4D-4ACA-B202-A1C7C3791D57}"/>
              </a:ext>
            </a:extLst>
          </p:cNvPr>
          <p:cNvSpPr txBox="1"/>
          <p:nvPr/>
        </p:nvSpPr>
        <p:spPr>
          <a:xfrm>
            <a:off x="847725" y="2286000"/>
            <a:ext cx="4695825" cy="9810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Lấy IP packet từ frame đến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728076C-3D9E-4E2B-9013-69D1BFF641CF}"/>
              </a:ext>
            </a:extLst>
          </p:cNvPr>
          <p:cNvSpPr/>
          <p:nvPr/>
        </p:nvSpPr>
        <p:spPr>
          <a:xfrm>
            <a:off x="6115050" y="1571625"/>
            <a:ext cx="5114925" cy="185737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D5D812F-1851-4E41-A3C4-A625CE4C3BB5}"/>
              </a:ext>
            </a:extLst>
          </p:cNvPr>
          <p:cNvSpPr txBox="1"/>
          <p:nvPr/>
        </p:nvSpPr>
        <p:spPr>
          <a:xfrm>
            <a:off x="6324600" y="1781175"/>
            <a:ext cx="469582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2  Tra FIB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5853BF8-8DDA-4C07-97F7-335B322B3918}"/>
              </a:ext>
            </a:extLst>
          </p:cNvPr>
          <p:cNvSpPr txBox="1"/>
          <p:nvPr/>
        </p:nvSpPr>
        <p:spPr>
          <a:xfrm>
            <a:off x="6324600" y="2286000"/>
            <a:ext cx="4695825" cy="9810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Longest prefix match trên IP đích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EEAB3640-1188-4C8F-B3E0-8B60B8A12653}"/>
              </a:ext>
            </a:extLst>
          </p:cNvPr>
          <p:cNvSpPr/>
          <p:nvPr/>
        </p:nvSpPr>
        <p:spPr>
          <a:xfrm>
            <a:off x="638175" y="3714750"/>
            <a:ext cx="5114925" cy="185737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7144F7A-17CD-4BE9-8C2B-AA44F689650D}"/>
              </a:ext>
            </a:extLst>
          </p:cNvPr>
          <p:cNvSpPr txBox="1"/>
          <p:nvPr/>
        </p:nvSpPr>
        <p:spPr>
          <a:xfrm>
            <a:off x="847725" y="3924300"/>
            <a:ext cx="469582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3  Giảm TTL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6ECC51B-6D5C-44FB-ACB9-53EB8D2B43B1}"/>
              </a:ext>
            </a:extLst>
          </p:cNvPr>
          <p:cNvSpPr txBox="1"/>
          <p:nvPr/>
        </p:nvSpPr>
        <p:spPr>
          <a:xfrm>
            <a:off x="847725" y="4429125"/>
            <a:ext cx="4695825" cy="9810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Cập nhật IPv4 header checksum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C450C557-89EB-4FB3-B7CA-197E9D9E59CC}"/>
              </a:ext>
            </a:extLst>
          </p:cNvPr>
          <p:cNvSpPr/>
          <p:nvPr/>
        </p:nvSpPr>
        <p:spPr>
          <a:xfrm>
            <a:off x="6115050" y="3714750"/>
            <a:ext cx="5114925" cy="185737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095BF0D-2FB3-4A3C-810B-04A3DD417C50}"/>
              </a:ext>
            </a:extLst>
          </p:cNvPr>
          <p:cNvSpPr txBox="1"/>
          <p:nvPr/>
        </p:nvSpPr>
        <p:spPr>
          <a:xfrm>
            <a:off x="6324600" y="3924300"/>
            <a:ext cx="469582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4  Đóng L2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CAED510-C15B-49E5-A612-906EA5991045}"/>
              </a:ext>
            </a:extLst>
          </p:cNvPr>
          <p:cNvSpPr txBox="1"/>
          <p:nvPr/>
        </p:nvSpPr>
        <p:spPr>
          <a:xfrm>
            <a:off x="6324600" y="4429125"/>
            <a:ext cx="4695825" cy="9810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MAC mới cho chặng kế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641DFEA-D925-4DF1-983D-C22F0CBD2DE6}"/>
              </a:ext>
            </a:extLst>
          </p:cNvPr>
          <p:cNvSpPr txBox="1"/>
          <p:nvPr/>
        </p:nvSpPr>
        <p:spPr>
          <a:xfrm>
            <a:off x="809625" y="5953125"/>
            <a:ext cx="10477500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>
                <a:solidFill>
                  <a:srgbClr val="5F7580"/>
                </a:solidFill>
                <a:latin typeface="Arial"/>
                <a:ea typeface="Arial"/>
              </a:rPr>
              <a:t>Router không đổi IP đích chỉ vì định tuyến; NAT hoặc tunnel có thể đổi thêm trường.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5B576A0-4AD9-4ADF-8B8F-35A9571582BA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TẦNG 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28D75FE-9ED0-44C2-9593-754B347A038F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Bốn trường đi qua NAT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660093B-B608-4915-B9B6-011F2D01A098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18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E32BD5E-9985-4D6F-8BCE-F59852C6CDEA}"/>
              </a:ext>
            </a:extLst>
          </p:cNvPr>
          <p:cNvSpPr/>
          <p:nvPr/>
        </p:nvSpPr>
        <p:spPr>
          <a:xfrm>
            <a:off x="666750" y="1724025"/>
            <a:ext cx="1390650" cy="714375"/>
          </a:xfrm>
          <a:prstGeom prst="rect">
            <a:avLst/>
          </a:prstGeom>
          <a:solidFill>
            <a:srgbClr val="1D394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4DD56EA-85EE-42C6-965A-B8C21AA7D7E2}"/>
              </a:ext>
            </a:extLst>
          </p:cNvPr>
          <p:cNvSpPr txBox="1"/>
          <p:nvPr/>
        </p:nvSpPr>
        <p:spPr>
          <a:xfrm>
            <a:off x="790575" y="1924050"/>
            <a:ext cx="119062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Điểm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19E79CF-162A-4A2A-8129-592C545BAF74}"/>
              </a:ext>
            </a:extLst>
          </p:cNvPr>
          <p:cNvSpPr/>
          <p:nvPr/>
        </p:nvSpPr>
        <p:spPr>
          <a:xfrm>
            <a:off x="2095500" y="1724025"/>
            <a:ext cx="2152650" cy="714375"/>
          </a:xfrm>
          <a:prstGeom prst="rect">
            <a:avLst/>
          </a:prstGeom>
          <a:solidFill>
            <a:srgbClr val="1D394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5114291-263B-4CCF-824F-03D1F211E562}"/>
              </a:ext>
            </a:extLst>
          </p:cNvPr>
          <p:cNvSpPr txBox="1"/>
          <p:nvPr/>
        </p:nvSpPr>
        <p:spPr>
          <a:xfrm>
            <a:off x="2219325" y="1924050"/>
            <a:ext cx="195262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MAC đích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2294A47E-FF24-4090-8274-76E769EAE600}"/>
              </a:ext>
            </a:extLst>
          </p:cNvPr>
          <p:cNvSpPr/>
          <p:nvPr/>
        </p:nvSpPr>
        <p:spPr>
          <a:xfrm>
            <a:off x="4286250" y="1724025"/>
            <a:ext cx="2962275" cy="714375"/>
          </a:xfrm>
          <a:prstGeom prst="rect">
            <a:avLst/>
          </a:prstGeom>
          <a:solidFill>
            <a:srgbClr val="1D394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9D9776F-B316-4639-96AB-6AAD31DA1161}"/>
              </a:ext>
            </a:extLst>
          </p:cNvPr>
          <p:cNvSpPr txBox="1"/>
          <p:nvPr/>
        </p:nvSpPr>
        <p:spPr>
          <a:xfrm>
            <a:off x="4410075" y="1924050"/>
            <a:ext cx="276225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IP nguồn:port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19DB0C6-003E-4831-982C-F33961E0B912}"/>
              </a:ext>
            </a:extLst>
          </p:cNvPr>
          <p:cNvSpPr/>
          <p:nvPr/>
        </p:nvSpPr>
        <p:spPr>
          <a:xfrm>
            <a:off x="7286625" y="1724025"/>
            <a:ext cx="2886075" cy="714375"/>
          </a:xfrm>
          <a:prstGeom prst="rect">
            <a:avLst/>
          </a:prstGeom>
          <a:solidFill>
            <a:srgbClr val="1D394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D6A0EB8-BE0E-4930-9B03-341C8CFE3FF6}"/>
              </a:ext>
            </a:extLst>
          </p:cNvPr>
          <p:cNvSpPr txBox="1"/>
          <p:nvPr/>
        </p:nvSpPr>
        <p:spPr>
          <a:xfrm>
            <a:off x="7410450" y="1924050"/>
            <a:ext cx="268605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IP đích:port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A17FA81-33DF-4FE2-BF80-464D2407EB5D}"/>
              </a:ext>
            </a:extLst>
          </p:cNvPr>
          <p:cNvSpPr/>
          <p:nvPr/>
        </p:nvSpPr>
        <p:spPr>
          <a:xfrm>
            <a:off x="10210800" y="1724025"/>
            <a:ext cx="857250" cy="714375"/>
          </a:xfrm>
          <a:prstGeom prst="rect">
            <a:avLst/>
          </a:prstGeom>
          <a:solidFill>
            <a:srgbClr val="1D394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FCE63EC-D8A9-477E-BFFA-5174065A620F}"/>
              </a:ext>
            </a:extLst>
          </p:cNvPr>
          <p:cNvSpPr txBox="1"/>
          <p:nvPr/>
        </p:nvSpPr>
        <p:spPr>
          <a:xfrm>
            <a:off x="10334625" y="1924050"/>
            <a:ext cx="65722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TTL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15A27FC-ABC9-49A5-9387-DC300B348C19}"/>
              </a:ext>
            </a:extLst>
          </p:cNvPr>
          <p:cNvSpPr/>
          <p:nvPr/>
        </p:nvSpPr>
        <p:spPr>
          <a:xfrm>
            <a:off x="666750" y="2533650"/>
            <a:ext cx="1390650" cy="895350"/>
          </a:xfrm>
          <a:prstGeom prst="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091CAFD-D53B-41A0-B55D-ED07C19005B4}"/>
              </a:ext>
            </a:extLst>
          </p:cNvPr>
          <p:cNvSpPr txBox="1"/>
          <p:nvPr/>
        </p:nvSpPr>
        <p:spPr>
          <a:xfrm>
            <a:off x="762000" y="2800350"/>
            <a:ext cx="1257300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72F3C"/>
                </a:solidFill>
                <a:latin typeface="Arial"/>
                <a:ea typeface="Arial"/>
              </a:rPr>
              <a:t>LAN A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130E808-9B0F-4B18-B95E-BD2E0FD764C2}"/>
              </a:ext>
            </a:extLst>
          </p:cNvPr>
          <p:cNvSpPr/>
          <p:nvPr/>
        </p:nvSpPr>
        <p:spPr>
          <a:xfrm>
            <a:off x="2095500" y="2533650"/>
            <a:ext cx="2152650" cy="895350"/>
          </a:xfrm>
          <a:prstGeom prst="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D03227B-5ACA-426F-9927-213E331BEC41}"/>
              </a:ext>
            </a:extLst>
          </p:cNvPr>
          <p:cNvSpPr txBox="1"/>
          <p:nvPr/>
        </p:nvSpPr>
        <p:spPr>
          <a:xfrm>
            <a:off x="2190750" y="2800350"/>
            <a:ext cx="2019300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172F3C"/>
                </a:solidFill>
                <a:latin typeface="Arial"/>
                <a:ea typeface="Arial"/>
              </a:rPr>
              <a:t>gateway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F6A467B9-B1BF-4F22-945B-202A5CA51071}"/>
              </a:ext>
            </a:extLst>
          </p:cNvPr>
          <p:cNvSpPr/>
          <p:nvPr/>
        </p:nvSpPr>
        <p:spPr>
          <a:xfrm>
            <a:off x="4286250" y="2533650"/>
            <a:ext cx="2962275" cy="895350"/>
          </a:xfrm>
          <a:prstGeom prst="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44FE877-AB36-4B62-8916-8521FE5B21A9}"/>
              </a:ext>
            </a:extLst>
          </p:cNvPr>
          <p:cNvSpPr txBox="1"/>
          <p:nvPr/>
        </p:nvSpPr>
        <p:spPr>
          <a:xfrm>
            <a:off x="4381500" y="2800350"/>
            <a:ext cx="2828925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172F3C"/>
                </a:solidFill>
                <a:latin typeface="Arial"/>
                <a:ea typeface="Arial"/>
              </a:rPr>
              <a:t>192.168.1.10:51514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7A9937B9-4511-4072-8D77-43E560DDEC98}"/>
              </a:ext>
            </a:extLst>
          </p:cNvPr>
          <p:cNvSpPr/>
          <p:nvPr/>
        </p:nvSpPr>
        <p:spPr>
          <a:xfrm>
            <a:off x="7286625" y="2533650"/>
            <a:ext cx="2886075" cy="895350"/>
          </a:xfrm>
          <a:prstGeom prst="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ECCF76E-2CA1-4124-AC18-028E4590D9CD}"/>
              </a:ext>
            </a:extLst>
          </p:cNvPr>
          <p:cNvSpPr txBox="1"/>
          <p:nvPr/>
        </p:nvSpPr>
        <p:spPr>
          <a:xfrm>
            <a:off x="7381875" y="2800350"/>
            <a:ext cx="2752725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172F3C"/>
                </a:solidFill>
                <a:latin typeface="Arial"/>
                <a:ea typeface="Arial"/>
              </a:rPr>
              <a:t>198.51.100.20:443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F6E5999C-E2C7-4B99-9F5E-5B4E5516C3A4}"/>
              </a:ext>
            </a:extLst>
          </p:cNvPr>
          <p:cNvSpPr/>
          <p:nvPr/>
        </p:nvSpPr>
        <p:spPr>
          <a:xfrm>
            <a:off x="10210800" y="2533650"/>
            <a:ext cx="857250" cy="895350"/>
          </a:xfrm>
          <a:prstGeom prst="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CC6371C-C203-4438-BB7A-F297FB1B9624}"/>
              </a:ext>
            </a:extLst>
          </p:cNvPr>
          <p:cNvSpPr txBox="1"/>
          <p:nvPr/>
        </p:nvSpPr>
        <p:spPr>
          <a:xfrm>
            <a:off x="10306050" y="2800350"/>
            <a:ext cx="723900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172F3C"/>
                </a:solidFill>
                <a:latin typeface="Arial"/>
                <a:ea typeface="Arial"/>
              </a:rPr>
              <a:t>64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1097BECC-9AE2-41FA-8BA9-468ED46A3A60}"/>
              </a:ext>
            </a:extLst>
          </p:cNvPr>
          <p:cNvSpPr/>
          <p:nvPr/>
        </p:nvSpPr>
        <p:spPr>
          <a:xfrm>
            <a:off x="666750" y="3533775"/>
            <a:ext cx="1390650" cy="895350"/>
          </a:xfrm>
          <a:prstGeom prst="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CD9CA9F-BBF5-4B92-A1A8-687CFEFF964D}"/>
              </a:ext>
            </a:extLst>
          </p:cNvPr>
          <p:cNvSpPr txBox="1"/>
          <p:nvPr/>
        </p:nvSpPr>
        <p:spPr>
          <a:xfrm>
            <a:off x="762000" y="3800475"/>
            <a:ext cx="1257300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72F3C"/>
                </a:solidFill>
                <a:latin typeface="Arial"/>
                <a:ea typeface="Arial"/>
              </a:rPr>
              <a:t>sau NAT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FAA218A7-3D22-42F9-85DB-72F2A7E17120}"/>
              </a:ext>
            </a:extLst>
          </p:cNvPr>
          <p:cNvSpPr/>
          <p:nvPr/>
        </p:nvSpPr>
        <p:spPr>
          <a:xfrm>
            <a:off x="2095500" y="3533775"/>
            <a:ext cx="2152650" cy="895350"/>
          </a:xfrm>
          <a:prstGeom prst="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B3D29DB-12FB-461E-8B94-EBB6C8521A17}"/>
              </a:ext>
            </a:extLst>
          </p:cNvPr>
          <p:cNvSpPr txBox="1"/>
          <p:nvPr/>
        </p:nvSpPr>
        <p:spPr>
          <a:xfrm>
            <a:off x="2190750" y="3800475"/>
            <a:ext cx="2019300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172F3C"/>
                </a:solidFill>
                <a:latin typeface="Arial"/>
                <a:ea typeface="Arial"/>
              </a:rPr>
              <a:t>next hop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1720BE6B-9853-42D0-90D7-3F32880D612A}"/>
              </a:ext>
            </a:extLst>
          </p:cNvPr>
          <p:cNvSpPr/>
          <p:nvPr/>
        </p:nvSpPr>
        <p:spPr>
          <a:xfrm>
            <a:off x="4286250" y="3533775"/>
            <a:ext cx="2962275" cy="895350"/>
          </a:xfrm>
          <a:prstGeom prst="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3B58421E-DC6C-4EEC-914C-A68FBF5F7498}"/>
              </a:ext>
            </a:extLst>
          </p:cNvPr>
          <p:cNvSpPr txBox="1"/>
          <p:nvPr/>
        </p:nvSpPr>
        <p:spPr>
          <a:xfrm>
            <a:off x="4381500" y="3800475"/>
            <a:ext cx="2828925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D8912E"/>
                </a:solidFill>
                <a:latin typeface="Arial"/>
                <a:ea typeface="Arial"/>
              </a:rPr>
              <a:t>203.0.113.10:62001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F446E407-0F28-48DF-A7B1-58300C972409}"/>
              </a:ext>
            </a:extLst>
          </p:cNvPr>
          <p:cNvSpPr/>
          <p:nvPr/>
        </p:nvSpPr>
        <p:spPr>
          <a:xfrm>
            <a:off x="7286625" y="3533775"/>
            <a:ext cx="2886075" cy="895350"/>
          </a:xfrm>
          <a:prstGeom prst="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7FE4C7A-BE47-44C0-9696-70A6EE86FDF3}"/>
              </a:ext>
            </a:extLst>
          </p:cNvPr>
          <p:cNvSpPr txBox="1"/>
          <p:nvPr/>
        </p:nvSpPr>
        <p:spPr>
          <a:xfrm>
            <a:off x="7381875" y="3800475"/>
            <a:ext cx="2752725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172F3C"/>
                </a:solidFill>
                <a:latin typeface="Arial"/>
                <a:ea typeface="Arial"/>
              </a:rPr>
              <a:t>198.51.100.20:443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EA3A18EE-4989-4B82-8572-A5B140A23BFC}"/>
              </a:ext>
            </a:extLst>
          </p:cNvPr>
          <p:cNvSpPr/>
          <p:nvPr/>
        </p:nvSpPr>
        <p:spPr>
          <a:xfrm>
            <a:off x="10210800" y="3533775"/>
            <a:ext cx="857250" cy="895350"/>
          </a:xfrm>
          <a:prstGeom prst="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EC23EF95-5918-4CC6-BF9D-3539079524F8}"/>
              </a:ext>
            </a:extLst>
          </p:cNvPr>
          <p:cNvSpPr txBox="1"/>
          <p:nvPr/>
        </p:nvSpPr>
        <p:spPr>
          <a:xfrm>
            <a:off x="10306050" y="3800475"/>
            <a:ext cx="723900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172F3C"/>
                </a:solidFill>
                <a:latin typeface="Arial"/>
                <a:ea typeface="Arial"/>
              </a:rPr>
              <a:t>63</a:t>
            </a: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62896BC9-FCB3-4076-B220-070738DC776F}"/>
              </a:ext>
            </a:extLst>
          </p:cNvPr>
          <p:cNvSpPr/>
          <p:nvPr/>
        </p:nvSpPr>
        <p:spPr>
          <a:xfrm>
            <a:off x="666750" y="4533900"/>
            <a:ext cx="1390650" cy="895350"/>
          </a:xfrm>
          <a:prstGeom prst="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CAD58B4-A070-42AB-9CD1-F8C96484AEB1}"/>
              </a:ext>
            </a:extLst>
          </p:cNvPr>
          <p:cNvSpPr txBox="1"/>
          <p:nvPr/>
        </p:nvSpPr>
        <p:spPr>
          <a:xfrm>
            <a:off x="762000" y="4800600"/>
            <a:ext cx="1257300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72F3C"/>
                </a:solidFill>
                <a:latin typeface="Arial"/>
                <a:ea typeface="Arial"/>
              </a:rPr>
              <a:t>gần B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662705FF-44B8-4968-9D56-7ABB32C105BD}"/>
              </a:ext>
            </a:extLst>
          </p:cNvPr>
          <p:cNvSpPr/>
          <p:nvPr/>
        </p:nvSpPr>
        <p:spPr>
          <a:xfrm>
            <a:off x="2095500" y="4533900"/>
            <a:ext cx="2152650" cy="895350"/>
          </a:xfrm>
          <a:prstGeom prst="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5F7DBF9B-D8E1-4751-AC32-CAC5781F0B3D}"/>
              </a:ext>
            </a:extLst>
          </p:cNvPr>
          <p:cNvSpPr txBox="1"/>
          <p:nvPr/>
        </p:nvSpPr>
        <p:spPr>
          <a:xfrm>
            <a:off x="2190750" y="4800600"/>
            <a:ext cx="2019300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172F3C"/>
                </a:solidFill>
                <a:latin typeface="Arial"/>
                <a:ea typeface="Arial"/>
              </a:rPr>
              <a:t>server B</a:t>
            </a:r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62C496C3-16D8-4024-B262-04EA3B3ACDDA}"/>
              </a:ext>
            </a:extLst>
          </p:cNvPr>
          <p:cNvSpPr/>
          <p:nvPr/>
        </p:nvSpPr>
        <p:spPr>
          <a:xfrm>
            <a:off x="4286250" y="4533900"/>
            <a:ext cx="2962275" cy="895350"/>
          </a:xfrm>
          <a:prstGeom prst="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C98723E7-3DC6-4A9C-B56B-F1EEC270677A}"/>
              </a:ext>
            </a:extLst>
          </p:cNvPr>
          <p:cNvSpPr txBox="1"/>
          <p:nvPr/>
        </p:nvSpPr>
        <p:spPr>
          <a:xfrm>
            <a:off x="4381500" y="4800600"/>
            <a:ext cx="2828925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D8912E"/>
                </a:solidFill>
                <a:latin typeface="Arial"/>
                <a:ea typeface="Arial"/>
              </a:rPr>
              <a:t>203.0.113.10:62001</a:t>
            </a:r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42E5946A-126C-4A17-8B7D-DDBB66C5429D}"/>
              </a:ext>
            </a:extLst>
          </p:cNvPr>
          <p:cNvSpPr/>
          <p:nvPr/>
        </p:nvSpPr>
        <p:spPr>
          <a:xfrm>
            <a:off x="7286625" y="4533900"/>
            <a:ext cx="2886075" cy="895350"/>
          </a:xfrm>
          <a:prstGeom prst="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1432ADA6-3175-4800-B3A1-90A08227A960}"/>
              </a:ext>
            </a:extLst>
          </p:cNvPr>
          <p:cNvSpPr txBox="1"/>
          <p:nvPr/>
        </p:nvSpPr>
        <p:spPr>
          <a:xfrm>
            <a:off x="7381875" y="4800600"/>
            <a:ext cx="2752725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172F3C"/>
                </a:solidFill>
                <a:latin typeface="Arial"/>
                <a:ea typeface="Arial"/>
              </a:rPr>
              <a:t>198.51.100.20:443</a:t>
            </a:r>
          </a:p>
        </p:txBody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FCDFF76A-C76D-4DFF-9EFB-27A5B4853F36}"/>
              </a:ext>
            </a:extLst>
          </p:cNvPr>
          <p:cNvSpPr/>
          <p:nvPr/>
        </p:nvSpPr>
        <p:spPr>
          <a:xfrm>
            <a:off x="10210800" y="4533900"/>
            <a:ext cx="857250" cy="895350"/>
          </a:xfrm>
          <a:prstGeom prst="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905A4267-4DA8-44E7-9F96-1B425117A8C8}"/>
              </a:ext>
            </a:extLst>
          </p:cNvPr>
          <p:cNvSpPr txBox="1"/>
          <p:nvPr/>
        </p:nvSpPr>
        <p:spPr>
          <a:xfrm>
            <a:off x="10306050" y="4800600"/>
            <a:ext cx="723900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172F3C"/>
                </a:solidFill>
                <a:latin typeface="Arial"/>
                <a:ea typeface="Arial"/>
              </a:rPr>
              <a:t>&lt;63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D6057870-90D8-4251-9648-F638F20F9EC8}"/>
              </a:ext>
            </a:extLst>
          </p:cNvPr>
          <p:cNvSpPr txBox="1"/>
          <p:nvPr/>
        </p:nvSpPr>
        <p:spPr>
          <a:xfrm>
            <a:off x="781050" y="5800725"/>
            <a:ext cx="10401300" cy="4667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87E79"/>
                </a:solidFill>
                <a:latin typeface="Arial"/>
                <a:ea typeface="Arial"/>
              </a:rPr>
              <a:t>MAC đổi theo link · IP/port nguồn đổi ở NAT · TTL giảm tại router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2F6EFEE-F523-47AA-92F9-C1E83CB61D87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TẦNG 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96DD2FD-B829-40F5-ABE0-0A19D261B359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MTU: nút thắt của cả đường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9ADFEB9-6F49-46C2-8128-941F99AB4B9A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19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BF31A9C-DA3A-434E-85ED-56E4989999A4}"/>
              </a:ext>
            </a:extLst>
          </p:cNvPr>
          <p:cNvSpPr/>
          <p:nvPr/>
        </p:nvSpPr>
        <p:spPr>
          <a:xfrm>
            <a:off x="666750" y="1704975"/>
            <a:ext cx="5114925" cy="353377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28C29F7-B315-41E4-9170-15328A35487D}"/>
              </a:ext>
            </a:extLst>
          </p:cNvPr>
          <p:cNvSpPr txBox="1"/>
          <p:nvPr/>
        </p:nvSpPr>
        <p:spPr>
          <a:xfrm>
            <a:off x="876300" y="1914525"/>
            <a:ext cx="469582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IPv4 + DF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04C3DAA-2BDE-4C9F-86E1-C1E526F598B5}"/>
              </a:ext>
            </a:extLst>
          </p:cNvPr>
          <p:cNvSpPr txBox="1"/>
          <p:nvPr/>
        </p:nvSpPr>
        <p:spPr>
          <a:xfrm>
            <a:off x="876300" y="2419350"/>
            <a:ext cx="4695825" cy="2657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Packet quá lớn → router bỏ và gửi ICMP “fragmentation needed”. Nguồn giảm kích thước theo Path MTU.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85BB8F1-FD57-4908-8E85-33FE3245E73F}"/>
              </a:ext>
            </a:extLst>
          </p:cNvPr>
          <p:cNvSpPr/>
          <p:nvPr/>
        </p:nvSpPr>
        <p:spPr>
          <a:xfrm>
            <a:off x="6362700" y="1704975"/>
            <a:ext cx="5114925" cy="3533775"/>
          </a:xfrm>
          <a:prstGeom prst="roundRect">
            <a:avLst/>
          </a:prstGeom>
          <a:solidFill>
            <a:srgbClr val="FFF3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A843B97-85B8-4EED-AD02-D682C45007DC}"/>
              </a:ext>
            </a:extLst>
          </p:cNvPr>
          <p:cNvSpPr txBox="1"/>
          <p:nvPr/>
        </p:nvSpPr>
        <p:spPr>
          <a:xfrm>
            <a:off x="6572250" y="1914525"/>
            <a:ext cx="469582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D8912E"/>
                </a:solidFill>
                <a:latin typeface="Arial"/>
                <a:ea typeface="Arial"/>
              </a:rPr>
              <a:t>IPv6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3879DEE-B2C3-4B56-9C5E-0F5B58CAD72B}"/>
              </a:ext>
            </a:extLst>
          </p:cNvPr>
          <p:cNvSpPr txBox="1"/>
          <p:nvPr/>
        </p:nvSpPr>
        <p:spPr>
          <a:xfrm>
            <a:off x="6572250" y="2419350"/>
            <a:ext cx="4695825" cy="2657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Router không phân mảnh. Router gửi ICMPv6 Packet Too Big; nguồn điều chỉnh packet.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DD95A75-F01F-4DD7-B2DD-263400C123EE}"/>
              </a:ext>
            </a:extLst>
          </p:cNvPr>
          <p:cNvSpPr txBox="1"/>
          <p:nvPr/>
        </p:nvSpPr>
        <p:spPr>
          <a:xfrm>
            <a:off x="857250" y="5676900"/>
            <a:ext cx="10382250" cy="5810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>
                <a:solidFill>
                  <a:srgbClr val="5F7580"/>
                </a:solidFill>
                <a:latin typeface="Arial"/>
                <a:ea typeface="Arial"/>
              </a:rPr>
              <a:t>MTU đường đi = giới hạn nhỏ nhất trên các chặng; ICMP bị chặn có thể làm dữ liệu lớn bị treo.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6D806B8-EA70-448F-BB70-BF50272AC1CF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TẦNG 4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43A088B-3934-4A08-B324-87A86ED37162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TCP, UDP, QUIC phục vụ ba nhu cầu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7B97A12-C892-4790-8C7C-0EDC57D4DFE8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20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94B0F61-78EE-47A6-8E71-D51E42EA8F50}"/>
              </a:ext>
            </a:extLst>
          </p:cNvPr>
          <p:cNvSpPr/>
          <p:nvPr/>
        </p:nvSpPr>
        <p:spPr>
          <a:xfrm>
            <a:off x="666750" y="1743075"/>
            <a:ext cx="3228975" cy="343852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E31F39-A1AA-449F-83AE-0AE22FA8EAB8}"/>
              </a:ext>
            </a:extLst>
          </p:cNvPr>
          <p:cNvSpPr txBox="1"/>
          <p:nvPr/>
        </p:nvSpPr>
        <p:spPr>
          <a:xfrm>
            <a:off x="876300" y="1952625"/>
            <a:ext cx="280987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TCP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FE7626D-95E6-4032-8DDC-7E849AE34292}"/>
              </a:ext>
            </a:extLst>
          </p:cNvPr>
          <p:cNvSpPr txBox="1"/>
          <p:nvPr/>
        </p:nvSpPr>
        <p:spPr>
          <a:xfrm>
            <a:off x="876300" y="2457450"/>
            <a:ext cx="2809875" cy="25622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Byte stream</a:t>
            </a:r>
            <a:br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Thứ tự + truyền lại</a:t>
            </a:r>
            <a:br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HTTP/2, SSH, MQTT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C7DC3FD-136F-4654-9CAB-1E58D2D5041E}"/>
              </a:ext>
            </a:extLst>
          </p:cNvPr>
          <p:cNvSpPr/>
          <p:nvPr/>
        </p:nvSpPr>
        <p:spPr>
          <a:xfrm>
            <a:off x="4476750" y="1743075"/>
            <a:ext cx="3228975" cy="343852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FF23715-0EAE-4901-954A-8BA9659862AA}"/>
              </a:ext>
            </a:extLst>
          </p:cNvPr>
          <p:cNvSpPr txBox="1"/>
          <p:nvPr/>
        </p:nvSpPr>
        <p:spPr>
          <a:xfrm>
            <a:off x="4686300" y="1952625"/>
            <a:ext cx="280987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UDP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4C74320-6F1A-4DE8-B22B-BC54737FCA11}"/>
              </a:ext>
            </a:extLst>
          </p:cNvPr>
          <p:cNvSpPr txBox="1"/>
          <p:nvPr/>
        </p:nvSpPr>
        <p:spPr>
          <a:xfrm>
            <a:off x="4686300" y="2457450"/>
            <a:ext cx="2809875" cy="25622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Datagram</a:t>
            </a:r>
            <a:br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Không tự bảo đảm</a:t>
            </a:r>
            <a:br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DNS, DHCP, CoAP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EEF2A242-8ABF-43E4-A5E8-96EE94680B07}"/>
              </a:ext>
            </a:extLst>
          </p:cNvPr>
          <p:cNvSpPr/>
          <p:nvPr/>
        </p:nvSpPr>
        <p:spPr>
          <a:xfrm>
            <a:off x="8286750" y="1743075"/>
            <a:ext cx="3228975" cy="3438525"/>
          </a:xfrm>
          <a:prstGeom prst="roundRect">
            <a:avLst/>
          </a:prstGeom>
          <a:solidFill>
            <a:srgbClr val="FFF3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0CE6A99-2ECE-41F1-8CC1-B4C0DBA3EA5E}"/>
              </a:ext>
            </a:extLst>
          </p:cNvPr>
          <p:cNvSpPr txBox="1"/>
          <p:nvPr/>
        </p:nvSpPr>
        <p:spPr>
          <a:xfrm>
            <a:off x="8496300" y="1952625"/>
            <a:ext cx="2809875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D8912E"/>
                </a:solidFill>
                <a:latin typeface="Arial"/>
                <a:ea typeface="Arial"/>
              </a:rPr>
              <a:t>QUIC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79D5ADB-B98E-40CF-96C8-C839B8A7EBA3}"/>
              </a:ext>
            </a:extLst>
          </p:cNvPr>
          <p:cNvSpPr txBox="1"/>
          <p:nvPr/>
        </p:nvSpPr>
        <p:spPr>
          <a:xfrm>
            <a:off x="8496300" y="2457450"/>
            <a:ext cx="2809875" cy="25622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Trên UDP</a:t>
            </a:r>
            <a:br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Streams + TLS tích hợp</a:t>
            </a:r>
            <a:br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HTTP/3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BC38AAB-FC39-4722-8EAD-52F6230F3DB4}"/>
              </a:ext>
            </a:extLst>
          </p:cNvPr>
          <p:cNvSpPr txBox="1"/>
          <p:nvPr/>
        </p:nvSpPr>
        <p:spPr>
          <a:xfrm>
            <a:off x="771525" y="5743575"/>
            <a:ext cx="10477500" cy="4095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>
                <a:solidFill>
                  <a:srgbClr val="172F3C"/>
                </a:solidFill>
                <a:latin typeface="Arial"/>
                <a:ea typeface="Arial"/>
              </a:rPr>
              <a:t>QUIC không phải “TCP trên UDP”; đó là transport riêng dùng UDP để đi qua mạng.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712C457-4606-4FA2-91A7-BC78AB11A5D2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TẦNG 4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0BB295F-DCDD-4034-874C-816C296E61CB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TCP handshake và 5-tuple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63E1D47-AAB2-4398-B94F-D83D573E8B10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21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6234408-336C-48B4-94D3-43CBE15DCD57}"/>
              </a:ext>
            </a:extLst>
          </p:cNvPr>
          <p:cNvSpPr/>
          <p:nvPr/>
        </p:nvSpPr>
        <p:spPr>
          <a:xfrm>
            <a:off x="3619500" y="5381625"/>
            <a:ext cx="4953000" cy="60960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 lIns="0" tIns="0" rIns="0" bIns="0" anchor="ctr"/>
          <a:lstStyle/>
          <a:p>
            <a:pPr algn="ctr"/>
            <a:r>
              <a:rPr sz="1900" b="1">
                <a:solidFill>
                  <a:srgbClr val="087E79"/>
                </a:solidFill>
                <a:latin typeface="Arial"/>
                <a:ea typeface="Arial"/>
              </a:rPr>
              <a:t>5-tuple = TCP + 2 IP + 2 port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09A67E-956C-4A84-8842-102EDAAA970B}"/>
              </a:ext>
            </a:extLst>
          </p:cNvPr>
          <p:cNvSpPr txBox="1"/>
          <p:nvPr/>
        </p:nvSpPr>
        <p:spPr>
          <a:xfrm>
            <a:off x="1190625" y="1628775"/>
            <a:ext cx="2247900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87E79"/>
                </a:solidFill>
                <a:latin typeface="Arial"/>
                <a:ea typeface="Arial"/>
              </a:rPr>
              <a:t>CLIENT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68CD8BE-4305-4B7D-B99C-674A6FD73E3F}"/>
              </a:ext>
            </a:extLst>
          </p:cNvPr>
          <p:cNvSpPr txBox="1"/>
          <p:nvPr/>
        </p:nvSpPr>
        <p:spPr>
          <a:xfrm>
            <a:off x="9058275" y="1628775"/>
            <a:ext cx="2247900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87E79"/>
                </a:solidFill>
                <a:latin typeface="Arial"/>
                <a:ea typeface="Arial"/>
              </a:rPr>
              <a:t>SERVER</a:t>
            </a:r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6C3D0945-17F5-48CE-8EBD-804C0448F9BB}"/>
              </a:ext>
            </a:extLst>
          </p:cNvPr>
          <p:cNvCxnSpPr/>
          <p:nvPr/>
        </p:nvCxnSpPr>
        <p:spPr>
          <a:xfrm>
            <a:off x="2286000" y="2095500"/>
            <a:ext cx="9525" cy="2971800"/>
          </a:xfrm>
          <a:prstGeom prst="line">
            <a:avLst/>
          </a:prstGeom>
          <a:ln w="25400" cap="flat">
            <a:solidFill>
              <a:srgbClr val="CDDDE0"/>
            </a:solidFill>
          </a:ln>
        </p:spPr>
      </p:cxn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F665A6A1-7B38-436C-B5F5-6541927CD006}"/>
              </a:ext>
            </a:extLst>
          </p:cNvPr>
          <p:cNvCxnSpPr/>
          <p:nvPr/>
        </p:nvCxnSpPr>
        <p:spPr>
          <a:xfrm>
            <a:off x="9877425" y="2095500"/>
            <a:ext cx="9525" cy="2971800"/>
          </a:xfrm>
          <a:prstGeom prst="line">
            <a:avLst/>
          </a:prstGeom>
          <a:ln w="25400" cap="flat">
            <a:solidFill>
              <a:srgbClr val="CDDDE0"/>
            </a:solidFill>
          </a:ln>
        </p:spPr>
      </p:cxn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93FA8C12-CF93-4005-9CF7-9DC626C249ED}"/>
              </a:ext>
            </a:extLst>
          </p:cNvPr>
          <p:cNvCxnSpPr/>
          <p:nvPr/>
        </p:nvCxnSpPr>
        <p:spPr>
          <a:xfrm>
            <a:off x="2447925" y="2476500"/>
            <a:ext cx="7239000" cy="9525"/>
          </a:xfrm>
          <a:prstGeom prst="straightConnector1">
            <a:avLst/>
          </a:prstGeom>
          <a:ln w="50800" cap="flat">
            <a:solidFill>
              <a:srgbClr val="087E79"/>
            </a:solidFill>
            <a:tailEnd type="triangle" w="med" len="med"/>
          </a:ln>
        </p:spPr>
      </p:cxnSp>
      <p:sp>
        <p:nvSpPr>
          <p:cNvPr id="12" name="TextBox 12">
            <a:extLst>
              <a:ext uri="{FF2B5EF4-FFF2-40B4-BE49-F238E27FC236}">
                <a16:creationId xmlns:a16="http://schemas.microsoft.com/office/drawing/2014/main" id="{48B2B868-7523-4483-9EFD-CD37301F8F6E}"/>
              </a:ext>
            </a:extLst>
          </p:cNvPr>
          <p:cNvSpPr txBox="1"/>
          <p:nvPr/>
        </p:nvSpPr>
        <p:spPr>
          <a:xfrm>
            <a:off x="4895850" y="2171700"/>
            <a:ext cx="2857500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72F3C"/>
                </a:solidFill>
                <a:latin typeface="Arial"/>
                <a:ea typeface="Arial"/>
              </a:rPr>
              <a:t>SYN · seq = x</a:t>
            </a:r>
          </a:p>
        </p:txBody>
      </p:sp>
      <p:cxnSp>
        <p:nvCxnSpPr>
          <p:cNvPr id="13" name="Straight Connector 13">
            <a:extLst>
              <a:ext uri="{FF2B5EF4-FFF2-40B4-BE49-F238E27FC236}">
                <a16:creationId xmlns:a16="http://schemas.microsoft.com/office/drawing/2014/main" id="{325A187C-5554-4AF9-A057-5A5F07CE7253}"/>
              </a:ext>
            </a:extLst>
          </p:cNvPr>
          <p:cNvCxnSpPr/>
          <p:nvPr/>
        </p:nvCxnSpPr>
        <p:spPr>
          <a:xfrm flipH="1">
            <a:off x="2447925" y="3419475"/>
            <a:ext cx="7239000" cy="9525"/>
          </a:xfrm>
          <a:prstGeom prst="straightConnector1">
            <a:avLst/>
          </a:prstGeom>
          <a:ln w="50800" cap="flat">
            <a:solidFill>
              <a:srgbClr val="D8912E"/>
            </a:solidFill>
            <a:tailEnd type="triangle" w="med" len="med"/>
          </a:ln>
        </p:spPr>
      </p:cxnSp>
      <p:sp>
        <p:nvSpPr>
          <p:cNvPr id="14" name="TextBox 14">
            <a:extLst>
              <a:ext uri="{FF2B5EF4-FFF2-40B4-BE49-F238E27FC236}">
                <a16:creationId xmlns:a16="http://schemas.microsoft.com/office/drawing/2014/main" id="{F86BA85F-A48D-400B-873D-B951403F4724}"/>
              </a:ext>
            </a:extLst>
          </p:cNvPr>
          <p:cNvSpPr txBox="1"/>
          <p:nvPr/>
        </p:nvSpPr>
        <p:spPr>
          <a:xfrm>
            <a:off x="4610100" y="3067050"/>
            <a:ext cx="3457575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72F3C"/>
                </a:solidFill>
                <a:latin typeface="Arial"/>
                <a:ea typeface="Arial"/>
              </a:rPr>
              <a:t>SYN/ACK · ack = x+1</a:t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D6C27F97-9B62-4203-88B7-C45E4BC1822D}"/>
              </a:ext>
            </a:extLst>
          </p:cNvPr>
          <p:cNvCxnSpPr/>
          <p:nvPr/>
        </p:nvCxnSpPr>
        <p:spPr>
          <a:xfrm>
            <a:off x="2447925" y="4391025"/>
            <a:ext cx="7239000" cy="9525"/>
          </a:xfrm>
          <a:prstGeom prst="straightConnector1">
            <a:avLst/>
          </a:prstGeom>
          <a:ln w="50800" cap="flat">
            <a:solidFill>
              <a:srgbClr val="087E79"/>
            </a:solidFill>
            <a:tailEnd type="triangle" w="med" len="med"/>
          </a:ln>
        </p:spPr>
      </p:cxnSp>
      <p:sp>
        <p:nvSpPr>
          <p:cNvPr id="16" name="TextBox 16">
            <a:extLst>
              <a:ext uri="{FF2B5EF4-FFF2-40B4-BE49-F238E27FC236}">
                <a16:creationId xmlns:a16="http://schemas.microsoft.com/office/drawing/2014/main" id="{B18BDDF2-1D1D-40B2-818C-D0ABD1F55B17}"/>
              </a:ext>
            </a:extLst>
          </p:cNvPr>
          <p:cNvSpPr txBox="1"/>
          <p:nvPr/>
        </p:nvSpPr>
        <p:spPr>
          <a:xfrm>
            <a:off x="4695825" y="4019550"/>
            <a:ext cx="3343275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72F3C"/>
                </a:solidFill>
                <a:latin typeface="Arial"/>
                <a:ea typeface="Arial"/>
              </a:rPr>
              <a:t>ACK · ack = y+1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D9AA6E1-8547-451A-82BA-87697DB93018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ỨNG DỤNG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22BF297-E414-4BFE-8434-43D61BD4002F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Gõ https://example.com rồi Enter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AAAD771-9B35-4647-B88D-ADA419D79F22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22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4AE8D12-E54E-4611-84EA-C3EB3C5B7311}"/>
              </a:ext>
            </a:extLst>
          </p:cNvPr>
          <p:cNvSpPr/>
          <p:nvPr/>
        </p:nvSpPr>
        <p:spPr>
          <a:xfrm>
            <a:off x="561975" y="1876425"/>
            <a:ext cx="2028825" cy="306705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9EA976A-931F-43B6-AE38-0D1C5F27D0D4}"/>
              </a:ext>
            </a:extLst>
          </p:cNvPr>
          <p:cNvSpPr txBox="1"/>
          <p:nvPr/>
        </p:nvSpPr>
        <p:spPr>
          <a:xfrm>
            <a:off x="752475" y="2095500"/>
            <a:ext cx="1714500" cy="7143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4500" b="1">
                <a:solidFill>
                  <a:srgbClr val="087E79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25463C-E0E4-4B67-9AC4-A9F675341CA3}"/>
              </a:ext>
            </a:extLst>
          </p:cNvPr>
          <p:cNvSpPr txBox="1"/>
          <p:nvPr/>
        </p:nvSpPr>
        <p:spPr>
          <a:xfrm>
            <a:off x="733425" y="3114675"/>
            <a:ext cx="1714500" cy="4095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72F3C"/>
                </a:solidFill>
                <a:latin typeface="Arial"/>
                <a:ea typeface="Arial"/>
              </a:rPr>
              <a:t>DNS / cache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014D82F-121B-43D4-B608-CDB46D54B342}"/>
              </a:ext>
            </a:extLst>
          </p:cNvPr>
          <p:cNvSpPr txBox="1"/>
          <p:nvPr/>
        </p:nvSpPr>
        <p:spPr>
          <a:xfrm>
            <a:off x="733425" y="3857625"/>
            <a:ext cx="1714500" cy="6667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5F7580"/>
                </a:solidFill>
                <a:latin typeface="Arial"/>
                <a:ea typeface="Arial"/>
              </a:rPr>
              <a:t>tên → IP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9A6E218C-C2B9-4387-B598-2B92B71D6BC1}"/>
              </a:ext>
            </a:extLst>
          </p:cNvPr>
          <p:cNvCxnSpPr/>
          <p:nvPr/>
        </p:nvCxnSpPr>
        <p:spPr>
          <a:xfrm>
            <a:off x="2600325" y="3343275"/>
            <a:ext cx="266700" cy="9525"/>
          </a:xfrm>
          <a:prstGeom prst="straightConnector1">
            <a:avLst/>
          </a:prstGeom>
          <a:ln w="25400" cap="flat">
            <a:solidFill>
              <a:srgbClr val="087E79"/>
            </a:solidFill>
            <a:tailEnd type="triangle" w="med" len="med"/>
          </a:ln>
        </p:spPr>
      </p:cxnSp>
      <p:sp>
        <p:nvSpPr>
          <p:cNvPr id="11" name="Shape 11">
            <a:extLst>
              <a:ext uri="{FF2B5EF4-FFF2-40B4-BE49-F238E27FC236}">
                <a16:creationId xmlns:a16="http://schemas.microsoft.com/office/drawing/2014/main" id="{14422637-1CC9-4D61-BF05-4EED4996E824}"/>
              </a:ext>
            </a:extLst>
          </p:cNvPr>
          <p:cNvSpPr/>
          <p:nvPr/>
        </p:nvSpPr>
        <p:spPr>
          <a:xfrm>
            <a:off x="2876550" y="1876425"/>
            <a:ext cx="2028825" cy="30670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F576E34-97F6-42C0-A353-F99E42B22649}"/>
              </a:ext>
            </a:extLst>
          </p:cNvPr>
          <p:cNvSpPr txBox="1"/>
          <p:nvPr/>
        </p:nvSpPr>
        <p:spPr>
          <a:xfrm>
            <a:off x="3067050" y="2095500"/>
            <a:ext cx="1714500" cy="7143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4500" b="1">
                <a:solidFill>
                  <a:srgbClr val="087E79"/>
                </a:solidFill>
                <a:latin typeface="Cambria"/>
                <a:ea typeface="Cambria"/>
              </a:rPr>
              <a:t>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AD819F3-3EE1-49AE-B65F-4CCF94B076ED}"/>
              </a:ext>
            </a:extLst>
          </p:cNvPr>
          <p:cNvSpPr txBox="1"/>
          <p:nvPr/>
        </p:nvSpPr>
        <p:spPr>
          <a:xfrm>
            <a:off x="3048000" y="3114675"/>
            <a:ext cx="1714500" cy="4095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72F3C"/>
                </a:solidFill>
                <a:latin typeface="Arial"/>
                <a:ea typeface="Arial"/>
              </a:rPr>
              <a:t>route / ARP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439A73E-2E18-4169-9DF4-238F7218FBDE}"/>
              </a:ext>
            </a:extLst>
          </p:cNvPr>
          <p:cNvSpPr txBox="1"/>
          <p:nvPr/>
        </p:nvSpPr>
        <p:spPr>
          <a:xfrm>
            <a:off x="3048000" y="3857625"/>
            <a:ext cx="1714500" cy="6667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5F7580"/>
                </a:solidFill>
                <a:latin typeface="Arial"/>
                <a:ea typeface="Arial"/>
              </a:rPr>
              <a:t>next hop → MAC</a:t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62500062-2F94-4D09-B6F2-C53FE2EF6BF1}"/>
              </a:ext>
            </a:extLst>
          </p:cNvPr>
          <p:cNvCxnSpPr/>
          <p:nvPr/>
        </p:nvCxnSpPr>
        <p:spPr>
          <a:xfrm>
            <a:off x="4914900" y="3343275"/>
            <a:ext cx="266700" cy="9525"/>
          </a:xfrm>
          <a:prstGeom prst="straightConnector1">
            <a:avLst/>
          </a:prstGeom>
          <a:ln w="25400" cap="flat">
            <a:solidFill>
              <a:srgbClr val="087E79"/>
            </a:solidFill>
            <a:tailEnd type="triangle" w="med" len="med"/>
          </a:ln>
        </p:spPr>
      </p:cxnSp>
      <p:sp>
        <p:nvSpPr>
          <p:cNvPr id="16" name="Shape 16">
            <a:extLst>
              <a:ext uri="{FF2B5EF4-FFF2-40B4-BE49-F238E27FC236}">
                <a16:creationId xmlns:a16="http://schemas.microsoft.com/office/drawing/2014/main" id="{419A06AC-49B8-41B4-B4F2-FD85F830C52E}"/>
              </a:ext>
            </a:extLst>
          </p:cNvPr>
          <p:cNvSpPr/>
          <p:nvPr/>
        </p:nvSpPr>
        <p:spPr>
          <a:xfrm>
            <a:off x="5191125" y="1876425"/>
            <a:ext cx="2028825" cy="30670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03BF014-ECF7-4FFE-BF11-102125E69990}"/>
              </a:ext>
            </a:extLst>
          </p:cNvPr>
          <p:cNvSpPr txBox="1"/>
          <p:nvPr/>
        </p:nvSpPr>
        <p:spPr>
          <a:xfrm>
            <a:off x="5381625" y="2095500"/>
            <a:ext cx="1714500" cy="7143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4500" b="1">
                <a:solidFill>
                  <a:srgbClr val="087E79"/>
                </a:solidFill>
                <a:latin typeface="Cambria"/>
                <a:ea typeface="Cambria"/>
              </a:rPr>
              <a:t>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921A406-7148-4B7E-B94F-249DD0347132}"/>
              </a:ext>
            </a:extLst>
          </p:cNvPr>
          <p:cNvSpPr txBox="1"/>
          <p:nvPr/>
        </p:nvSpPr>
        <p:spPr>
          <a:xfrm>
            <a:off x="5362575" y="3114675"/>
            <a:ext cx="1714500" cy="4095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72F3C"/>
                </a:solidFill>
                <a:latin typeface="Arial"/>
                <a:ea typeface="Arial"/>
              </a:rPr>
              <a:t>TCP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51A3664-C9F8-49A2-913C-0CF82AF4053D}"/>
              </a:ext>
            </a:extLst>
          </p:cNvPr>
          <p:cNvSpPr txBox="1"/>
          <p:nvPr/>
        </p:nvSpPr>
        <p:spPr>
          <a:xfrm>
            <a:off x="5362575" y="3857625"/>
            <a:ext cx="1714500" cy="6667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5F7580"/>
                </a:solidFill>
                <a:latin typeface="Arial"/>
                <a:ea typeface="Arial"/>
              </a:rPr>
              <a:t>bắt tay :443</a:t>
            </a:r>
          </a:p>
        </p:txBody>
      </p: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330CFCC6-6C5C-44CF-8648-A83B6633A385}"/>
              </a:ext>
            </a:extLst>
          </p:cNvPr>
          <p:cNvCxnSpPr/>
          <p:nvPr/>
        </p:nvCxnSpPr>
        <p:spPr>
          <a:xfrm>
            <a:off x="7229475" y="3343275"/>
            <a:ext cx="266700" cy="9525"/>
          </a:xfrm>
          <a:prstGeom prst="straightConnector1">
            <a:avLst/>
          </a:prstGeom>
          <a:ln w="25400" cap="flat">
            <a:solidFill>
              <a:srgbClr val="087E79"/>
            </a:solidFill>
            <a:tailEnd type="triangle" w="med" len="med"/>
          </a:ln>
        </p:spPr>
      </p:cxnSp>
      <p:sp>
        <p:nvSpPr>
          <p:cNvPr id="21" name="Shape 21">
            <a:extLst>
              <a:ext uri="{FF2B5EF4-FFF2-40B4-BE49-F238E27FC236}">
                <a16:creationId xmlns:a16="http://schemas.microsoft.com/office/drawing/2014/main" id="{3AC6D22D-83B9-4861-A6B0-07DDE2D941EA}"/>
              </a:ext>
            </a:extLst>
          </p:cNvPr>
          <p:cNvSpPr/>
          <p:nvPr/>
        </p:nvSpPr>
        <p:spPr>
          <a:xfrm>
            <a:off x="7505700" y="1876425"/>
            <a:ext cx="2028825" cy="3067050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EA0322C-318B-4A90-944B-2ACE0EE2A0A7}"/>
              </a:ext>
            </a:extLst>
          </p:cNvPr>
          <p:cNvSpPr txBox="1"/>
          <p:nvPr/>
        </p:nvSpPr>
        <p:spPr>
          <a:xfrm>
            <a:off x="7696200" y="2095500"/>
            <a:ext cx="1714500" cy="7143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4500" b="1">
                <a:solidFill>
                  <a:srgbClr val="087E79"/>
                </a:solidFill>
                <a:latin typeface="Cambria"/>
                <a:ea typeface="Cambria"/>
              </a:rPr>
              <a:t>4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6CF507B-5DFD-445A-B501-99EFF5E6848F}"/>
              </a:ext>
            </a:extLst>
          </p:cNvPr>
          <p:cNvSpPr txBox="1"/>
          <p:nvPr/>
        </p:nvSpPr>
        <p:spPr>
          <a:xfrm>
            <a:off x="7677150" y="3114675"/>
            <a:ext cx="1714500" cy="4095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72F3C"/>
                </a:solidFill>
                <a:latin typeface="Arial"/>
                <a:ea typeface="Arial"/>
              </a:rPr>
              <a:t>TLS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F4D602F-D6DB-4020-B4D5-16C9A5F04C27}"/>
              </a:ext>
            </a:extLst>
          </p:cNvPr>
          <p:cNvSpPr txBox="1"/>
          <p:nvPr/>
        </p:nvSpPr>
        <p:spPr>
          <a:xfrm>
            <a:off x="7677150" y="3857625"/>
            <a:ext cx="1714500" cy="6667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5F7580"/>
                </a:solidFill>
                <a:latin typeface="Arial"/>
                <a:ea typeface="Arial"/>
              </a:rPr>
              <a:t>xác thực + khóa</a:t>
            </a:r>
          </a:p>
        </p:txBody>
      </p: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8DDEA5DB-F287-4553-A8B2-3D5F9AB03561}"/>
              </a:ext>
            </a:extLst>
          </p:cNvPr>
          <p:cNvCxnSpPr/>
          <p:nvPr/>
        </p:nvCxnSpPr>
        <p:spPr>
          <a:xfrm>
            <a:off x="9544050" y="3343275"/>
            <a:ext cx="266700" cy="9525"/>
          </a:xfrm>
          <a:prstGeom prst="straightConnector1">
            <a:avLst/>
          </a:prstGeom>
          <a:ln w="25400" cap="flat">
            <a:solidFill>
              <a:srgbClr val="087E79"/>
            </a:solidFill>
            <a:tailEnd type="triangle" w="med" len="med"/>
          </a:ln>
        </p:spPr>
      </p:cxnSp>
      <p:sp>
        <p:nvSpPr>
          <p:cNvPr id="26" name="Shape 26">
            <a:extLst>
              <a:ext uri="{FF2B5EF4-FFF2-40B4-BE49-F238E27FC236}">
                <a16:creationId xmlns:a16="http://schemas.microsoft.com/office/drawing/2014/main" id="{CA00A882-4D45-4BA5-B50C-2187A03FFF33}"/>
              </a:ext>
            </a:extLst>
          </p:cNvPr>
          <p:cNvSpPr/>
          <p:nvPr/>
        </p:nvSpPr>
        <p:spPr>
          <a:xfrm>
            <a:off x="9820275" y="1876425"/>
            <a:ext cx="2028825" cy="30670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36D1927-1DFF-4F6E-918C-F04DBCFE7650}"/>
              </a:ext>
            </a:extLst>
          </p:cNvPr>
          <p:cNvSpPr txBox="1"/>
          <p:nvPr/>
        </p:nvSpPr>
        <p:spPr>
          <a:xfrm>
            <a:off x="10010775" y="2095500"/>
            <a:ext cx="1714500" cy="7143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4500" b="1">
                <a:solidFill>
                  <a:srgbClr val="087E79"/>
                </a:solidFill>
                <a:latin typeface="Cambria"/>
                <a:ea typeface="Cambria"/>
              </a:rPr>
              <a:t>5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C7E687E0-7F77-4F64-A2B7-27582C14EEE7}"/>
              </a:ext>
            </a:extLst>
          </p:cNvPr>
          <p:cNvSpPr txBox="1"/>
          <p:nvPr/>
        </p:nvSpPr>
        <p:spPr>
          <a:xfrm>
            <a:off x="9991725" y="3114675"/>
            <a:ext cx="1714500" cy="4095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72F3C"/>
                </a:solidFill>
                <a:latin typeface="Arial"/>
                <a:ea typeface="Arial"/>
              </a:rPr>
              <a:t>HTTP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15148B8A-ECAD-4A73-905E-8AF960355E3E}"/>
              </a:ext>
            </a:extLst>
          </p:cNvPr>
          <p:cNvSpPr txBox="1"/>
          <p:nvPr/>
        </p:nvSpPr>
        <p:spPr>
          <a:xfrm>
            <a:off x="9991725" y="3857625"/>
            <a:ext cx="1714500" cy="6667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5F7580"/>
                </a:solidFill>
                <a:latin typeface="Arial"/>
                <a:ea typeface="Arial"/>
              </a:rPr>
              <a:t>GET / response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E4E6A1BB-BC8C-4A90-995B-719A4F13675C}"/>
              </a:ext>
            </a:extLst>
          </p:cNvPr>
          <p:cNvSpPr txBox="1"/>
          <p:nvPr/>
        </p:nvSpPr>
        <p:spPr>
          <a:xfrm>
            <a:off x="771525" y="5448300"/>
            <a:ext cx="10525125" cy="5905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>
                <a:solidFill>
                  <a:srgbClr val="5F7580"/>
                </a:solidFill>
                <a:latin typeface="Arial"/>
                <a:ea typeface="Arial"/>
              </a:rPr>
              <a:t>Giả định HTTP/2 trên TCP/IPv4. Với HTTP/3, bước 3–4 được QUIC/TLS thay thế.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91A4102-09DA-4CE3-880C-67597158A548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NAT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F0C48A6-4375-46B6-B160-FB72DC4B9C2E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NAT: server nhìn thấy ai?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CA162CC-A179-460D-9E1C-2207844E5525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23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C185E6E-7C2D-4AF2-8504-94D432AEC027}"/>
              </a:ext>
            </a:extLst>
          </p:cNvPr>
          <p:cNvSpPr/>
          <p:nvPr/>
        </p:nvSpPr>
        <p:spPr>
          <a:xfrm>
            <a:off x="666750" y="1809750"/>
            <a:ext cx="3238500" cy="2562225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94EB7F1-7F24-4000-A217-434C60CEC6D5}"/>
              </a:ext>
            </a:extLst>
          </p:cNvPr>
          <p:cNvSpPr txBox="1"/>
          <p:nvPr/>
        </p:nvSpPr>
        <p:spPr>
          <a:xfrm>
            <a:off x="876300" y="2047875"/>
            <a:ext cx="280035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87E79"/>
                </a:solidFill>
                <a:latin typeface="Arial"/>
                <a:ea typeface="Arial"/>
              </a:rPr>
              <a:t>CLIENT LAN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0527BFE-9006-4CE3-B023-ACFF8C3BBAF6}"/>
              </a:ext>
            </a:extLst>
          </p:cNvPr>
          <p:cNvSpPr txBox="1"/>
          <p:nvPr/>
        </p:nvSpPr>
        <p:spPr>
          <a:xfrm>
            <a:off x="876300" y="2705100"/>
            <a:ext cx="2667000" cy="11239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72F3C"/>
                </a:solidFill>
                <a:latin typeface="Cambria"/>
                <a:ea typeface="Cambria"/>
              </a:rPr>
              <a:t>192.168.1.10</a:t>
            </a:r>
            <a:br/>
            <a:r>
              <a:rPr sz="3000" b="1">
                <a:solidFill>
                  <a:srgbClr val="172F3C"/>
                </a:solidFill>
                <a:latin typeface="Cambria"/>
                <a:ea typeface="Cambria"/>
              </a:rPr>
              <a:t>:51514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E138608-4E3B-4CCC-A348-EC937437193F}"/>
              </a:ext>
            </a:extLst>
          </p:cNvPr>
          <p:cNvSpPr/>
          <p:nvPr/>
        </p:nvSpPr>
        <p:spPr>
          <a:xfrm>
            <a:off x="4486275" y="1809750"/>
            <a:ext cx="3238500" cy="2562225"/>
          </a:xfrm>
          <a:prstGeom prst="roundRect">
            <a:avLst/>
          </a:prstGeom>
          <a:solidFill>
            <a:srgbClr val="FFF3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45D117A-CBEC-4CE8-8706-C44AEE238CC9}"/>
              </a:ext>
            </a:extLst>
          </p:cNvPr>
          <p:cNvSpPr txBox="1"/>
          <p:nvPr/>
        </p:nvSpPr>
        <p:spPr>
          <a:xfrm>
            <a:off x="4695825" y="2047875"/>
            <a:ext cx="280035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D8912E"/>
                </a:solidFill>
                <a:latin typeface="Arial"/>
                <a:ea typeface="Arial"/>
              </a:rPr>
              <a:t>ROUTER NAT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D574307-F846-4EBC-A9BC-63B563690472}"/>
              </a:ext>
            </a:extLst>
          </p:cNvPr>
          <p:cNvSpPr txBox="1"/>
          <p:nvPr/>
        </p:nvSpPr>
        <p:spPr>
          <a:xfrm>
            <a:off x="4695825" y="2705100"/>
            <a:ext cx="2667000" cy="11239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72F3C"/>
                </a:solidFill>
                <a:latin typeface="Cambria"/>
                <a:ea typeface="Cambria"/>
              </a:rPr>
              <a:t>203.0.113.10</a:t>
            </a:r>
            <a:br/>
            <a:r>
              <a:rPr sz="3000" b="1">
                <a:solidFill>
                  <a:srgbClr val="172F3C"/>
                </a:solidFill>
                <a:latin typeface="Cambria"/>
                <a:ea typeface="Cambria"/>
              </a:rPr>
              <a:t>:62001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49D87B9-8EEB-49C9-A54E-0C32AEAD649F}"/>
              </a:ext>
            </a:extLst>
          </p:cNvPr>
          <p:cNvSpPr/>
          <p:nvPr/>
        </p:nvSpPr>
        <p:spPr>
          <a:xfrm>
            <a:off x="8305800" y="1809750"/>
            <a:ext cx="3238500" cy="256222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EF36DAF-33C6-4512-A122-ADC62A2FC8FF}"/>
              </a:ext>
            </a:extLst>
          </p:cNvPr>
          <p:cNvSpPr txBox="1"/>
          <p:nvPr/>
        </p:nvSpPr>
        <p:spPr>
          <a:xfrm>
            <a:off x="8515350" y="2047875"/>
            <a:ext cx="280035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87E79"/>
                </a:solidFill>
                <a:latin typeface="Arial"/>
                <a:ea typeface="Arial"/>
              </a:rPr>
              <a:t>SERVER THẤY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130EDE1-432B-4A99-B850-4850D2718550}"/>
              </a:ext>
            </a:extLst>
          </p:cNvPr>
          <p:cNvSpPr txBox="1"/>
          <p:nvPr/>
        </p:nvSpPr>
        <p:spPr>
          <a:xfrm>
            <a:off x="8515350" y="2705100"/>
            <a:ext cx="2667000" cy="11239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72F3C"/>
                </a:solidFill>
                <a:latin typeface="Cambria"/>
                <a:ea typeface="Cambria"/>
              </a:rPr>
              <a:t>203.0.113.10</a:t>
            </a:r>
            <a:br/>
            <a:r>
              <a:rPr sz="3000" b="1">
                <a:solidFill>
                  <a:srgbClr val="172F3C"/>
                </a:solidFill>
                <a:latin typeface="Cambria"/>
                <a:ea typeface="Cambria"/>
              </a:rPr>
              <a:t>:62001</a:t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90804B61-56F3-4DA7-B592-64765C0B0BC5}"/>
              </a:ext>
            </a:extLst>
          </p:cNvPr>
          <p:cNvCxnSpPr/>
          <p:nvPr/>
        </p:nvCxnSpPr>
        <p:spPr>
          <a:xfrm>
            <a:off x="3914775" y="3086100"/>
            <a:ext cx="542925" cy="9525"/>
          </a:xfrm>
          <a:prstGeom prst="straightConnector1">
            <a:avLst/>
          </a:prstGeom>
          <a:ln w="50800" cap="flat">
            <a:solidFill>
              <a:srgbClr val="D8912E"/>
            </a:solidFill>
            <a:tailEnd type="triangle" w="med" len="med"/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2A883A94-025B-4E84-83BB-6BD4AC641F31}"/>
              </a:ext>
            </a:extLst>
          </p:cNvPr>
          <p:cNvCxnSpPr/>
          <p:nvPr/>
        </p:nvCxnSpPr>
        <p:spPr>
          <a:xfrm>
            <a:off x="7734300" y="3086100"/>
            <a:ext cx="542925" cy="9525"/>
          </a:xfrm>
          <a:prstGeom prst="straightConnector1">
            <a:avLst/>
          </a:prstGeom>
          <a:ln w="50800" cap="flat">
            <a:solidFill>
              <a:srgbClr val="D8912E"/>
            </a:solidFill>
            <a:tailEnd type="triangle" w="med" len="med"/>
          </a:ln>
        </p:spPr>
      </p:cxnSp>
      <p:sp>
        <p:nvSpPr>
          <p:cNvPr id="17" name="TextBox 17">
            <a:extLst>
              <a:ext uri="{FF2B5EF4-FFF2-40B4-BE49-F238E27FC236}">
                <a16:creationId xmlns:a16="http://schemas.microsoft.com/office/drawing/2014/main" id="{B59123E5-AF9A-4EC3-9DEF-0E0C3489645A}"/>
              </a:ext>
            </a:extLst>
          </p:cNvPr>
          <p:cNvSpPr txBox="1"/>
          <p:nvPr/>
        </p:nvSpPr>
        <p:spPr>
          <a:xfrm>
            <a:off x="923925" y="5095875"/>
            <a:ext cx="10191750" cy="6381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>
                <a:solidFill>
                  <a:srgbClr val="172F3C"/>
                </a:solidFill>
                <a:latin typeface="Arial"/>
                <a:ea typeface="Arial"/>
              </a:rPr>
              <a:t>Bản ghi NAT ánh xạ private:port ↔ public:port và theo dõi luồng.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145CACB-D420-4E4C-8F4F-A173D374DE00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NAT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443EECA-618F-47C0-8D1F-E749CDB77AE7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CGNAT đặt thêm một lớp dịch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66B3146-20C2-42C2-A898-5DD4BD700D74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24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C784579-D3CC-41C8-B135-D70F8EE9007E}"/>
              </a:ext>
            </a:extLst>
          </p:cNvPr>
          <p:cNvSpPr/>
          <p:nvPr/>
        </p:nvSpPr>
        <p:spPr>
          <a:xfrm>
            <a:off x="628650" y="2066925"/>
            <a:ext cx="3257550" cy="221932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0C7ED1A-AA57-42DE-9055-359E766571AF}"/>
              </a:ext>
            </a:extLst>
          </p:cNvPr>
          <p:cNvSpPr txBox="1"/>
          <p:nvPr/>
        </p:nvSpPr>
        <p:spPr>
          <a:xfrm>
            <a:off x="828675" y="2333625"/>
            <a:ext cx="2876550" cy="3905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87E79"/>
                </a:solidFill>
                <a:latin typeface="Arial"/>
                <a:ea typeface="Arial"/>
              </a:rPr>
              <a:t>THIẾT BỊ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9469905-32EF-48CD-A18A-67DECA12C422}"/>
              </a:ext>
            </a:extLst>
          </p:cNvPr>
          <p:cNvSpPr txBox="1"/>
          <p:nvPr/>
        </p:nvSpPr>
        <p:spPr>
          <a:xfrm>
            <a:off x="819150" y="3152775"/>
            <a:ext cx="2905125" cy="5238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72F3C"/>
                </a:solidFill>
                <a:latin typeface="Arial"/>
                <a:ea typeface="Arial"/>
              </a:rPr>
              <a:t>192.168.1.10</a:t>
            </a:r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63BF4C29-CD70-4C27-AEE6-515A5DEF7A0B}"/>
              </a:ext>
            </a:extLst>
          </p:cNvPr>
          <p:cNvCxnSpPr/>
          <p:nvPr/>
        </p:nvCxnSpPr>
        <p:spPr>
          <a:xfrm>
            <a:off x="3905250" y="3143250"/>
            <a:ext cx="523875" cy="9525"/>
          </a:xfrm>
          <a:prstGeom prst="straightConnector1">
            <a:avLst/>
          </a:prstGeom>
          <a:ln w="50800" cap="flat">
            <a:solidFill>
              <a:srgbClr val="D8912E"/>
            </a:solidFill>
            <a:tailEnd type="triangle" w="med" len="med"/>
          </a:ln>
        </p:spPr>
      </p:cxnSp>
      <p:sp>
        <p:nvSpPr>
          <p:cNvPr id="10" name="Shape 10">
            <a:extLst>
              <a:ext uri="{FF2B5EF4-FFF2-40B4-BE49-F238E27FC236}">
                <a16:creationId xmlns:a16="http://schemas.microsoft.com/office/drawing/2014/main" id="{BD374F8C-5493-41C4-A506-96B78B7C4E3E}"/>
              </a:ext>
            </a:extLst>
          </p:cNvPr>
          <p:cNvSpPr/>
          <p:nvPr/>
        </p:nvSpPr>
        <p:spPr>
          <a:xfrm>
            <a:off x="4438650" y="2066925"/>
            <a:ext cx="3257550" cy="2219325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7EA8B0D-FF3E-4FA9-BF65-1697947BC6F6}"/>
              </a:ext>
            </a:extLst>
          </p:cNvPr>
          <p:cNvSpPr txBox="1"/>
          <p:nvPr/>
        </p:nvSpPr>
        <p:spPr>
          <a:xfrm>
            <a:off x="4638675" y="2333625"/>
            <a:ext cx="2876550" cy="3905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87E79"/>
                </a:solidFill>
                <a:latin typeface="Arial"/>
                <a:ea typeface="Arial"/>
              </a:rPr>
              <a:t>ROUTER NHÀ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9F18E45-B77C-49DE-BFD3-E6B3CDE12412}"/>
              </a:ext>
            </a:extLst>
          </p:cNvPr>
          <p:cNvSpPr txBox="1"/>
          <p:nvPr/>
        </p:nvSpPr>
        <p:spPr>
          <a:xfrm>
            <a:off x="4629150" y="3152775"/>
            <a:ext cx="2905125" cy="5238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72F3C"/>
                </a:solidFill>
                <a:latin typeface="Arial"/>
                <a:ea typeface="Arial"/>
              </a:rPr>
              <a:t>100.72.1.8 WAN</a:t>
            </a:r>
          </a:p>
        </p:txBody>
      </p:sp>
      <p:cxnSp>
        <p:nvCxnSpPr>
          <p:cNvPr id="13" name="Straight Connector 13">
            <a:extLst>
              <a:ext uri="{FF2B5EF4-FFF2-40B4-BE49-F238E27FC236}">
                <a16:creationId xmlns:a16="http://schemas.microsoft.com/office/drawing/2014/main" id="{9B01EDFD-7F99-4F73-9672-AAF9BA40E7BB}"/>
              </a:ext>
            </a:extLst>
          </p:cNvPr>
          <p:cNvCxnSpPr/>
          <p:nvPr/>
        </p:nvCxnSpPr>
        <p:spPr>
          <a:xfrm>
            <a:off x="7715250" y="3143250"/>
            <a:ext cx="523875" cy="9525"/>
          </a:xfrm>
          <a:prstGeom prst="straightConnector1">
            <a:avLst/>
          </a:prstGeom>
          <a:ln w="50800" cap="flat">
            <a:solidFill>
              <a:srgbClr val="D8912E"/>
            </a:solidFill>
            <a:tailEnd type="triangle" w="med" len="med"/>
          </a:ln>
        </p:spPr>
      </p:cxnSp>
      <p:sp>
        <p:nvSpPr>
          <p:cNvPr id="14" name="Shape 14">
            <a:extLst>
              <a:ext uri="{FF2B5EF4-FFF2-40B4-BE49-F238E27FC236}">
                <a16:creationId xmlns:a16="http://schemas.microsoft.com/office/drawing/2014/main" id="{9CD06AB3-3133-4107-A97C-5011CBB58547}"/>
              </a:ext>
            </a:extLst>
          </p:cNvPr>
          <p:cNvSpPr/>
          <p:nvPr/>
        </p:nvSpPr>
        <p:spPr>
          <a:xfrm>
            <a:off x="8248650" y="2066925"/>
            <a:ext cx="3257550" cy="221932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49181C7-C190-4C6E-9570-1C937E10F26D}"/>
              </a:ext>
            </a:extLst>
          </p:cNvPr>
          <p:cNvSpPr txBox="1"/>
          <p:nvPr/>
        </p:nvSpPr>
        <p:spPr>
          <a:xfrm>
            <a:off x="8448675" y="2333625"/>
            <a:ext cx="2876550" cy="3905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87E79"/>
                </a:solidFill>
                <a:latin typeface="Arial"/>
                <a:ea typeface="Arial"/>
              </a:rPr>
              <a:t>CGNAT ISP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02C029A-1C6D-495B-BADF-F36E993FC027}"/>
              </a:ext>
            </a:extLst>
          </p:cNvPr>
          <p:cNvSpPr txBox="1"/>
          <p:nvPr/>
        </p:nvSpPr>
        <p:spPr>
          <a:xfrm>
            <a:off x="8439150" y="3152775"/>
            <a:ext cx="2905125" cy="5238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72F3C"/>
                </a:solidFill>
                <a:latin typeface="Arial"/>
                <a:ea typeface="Arial"/>
              </a:rPr>
              <a:t>203.0.113.10 public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1750ABB-92E8-4F7A-BC5B-458F10E7C361}"/>
              </a:ext>
            </a:extLst>
          </p:cNvPr>
          <p:cNvSpPr txBox="1"/>
          <p:nvPr/>
        </p:nvSpPr>
        <p:spPr>
          <a:xfrm>
            <a:off x="800100" y="5133975"/>
            <a:ext cx="10429875" cy="7715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000">
                <a:solidFill>
                  <a:srgbClr val="172F3C"/>
                </a:solidFill>
                <a:latin typeface="Arial"/>
                <a:ea typeface="Arial"/>
              </a:rPr>
              <a:t>100.64.0.0/10 là Shared Address Space. Port forwarding trên router nhà không cấu hình được CGNAT của ISP.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5C42A70-8B0D-4571-A245-BF5787B89D65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NAT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53F29BC-8BF1-472B-8543-752E19BB9323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Trả lời trên kết nối cũ ≠ mở kết nối mới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2234562-C757-46DC-9C7B-07B27009D76E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25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82953EA-6629-4D63-9B34-38C7FE43658F}"/>
              </a:ext>
            </a:extLst>
          </p:cNvPr>
          <p:cNvSpPr/>
          <p:nvPr/>
        </p:nvSpPr>
        <p:spPr>
          <a:xfrm>
            <a:off x="657225" y="1781175"/>
            <a:ext cx="5143500" cy="338137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6E1EA1B-1347-43C2-B0BA-55769912C210}"/>
              </a:ext>
            </a:extLst>
          </p:cNvPr>
          <p:cNvSpPr txBox="1"/>
          <p:nvPr/>
        </p:nvSpPr>
        <p:spPr>
          <a:xfrm>
            <a:off x="866775" y="1990725"/>
            <a:ext cx="47244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CÙNG KẾT NỐI: ĐƯỢC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00C806-5917-4A85-B43A-F63D0D2216CD}"/>
              </a:ext>
            </a:extLst>
          </p:cNvPr>
          <p:cNvSpPr txBox="1"/>
          <p:nvPr/>
        </p:nvSpPr>
        <p:spPr>
          <a:xfrm>
            <a:off x="866775" y="2495550"/>
            <a:ext cx="4724400" cy="25050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Client mở TCP ra cloud. TCP full duplex; server gửi dữ liệu về qua socket ấy. NAT/firewall còn state.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AAA1043-9AE5-482F-9225-DCFCAD0298F3}"/>
              </a:ext>
            </a:extLst>
          </p:cNvPr>
          <p:cNvSpPr/>
          <p:nvPr/>
        </p:nvSpPr>
        <p:spPr>
          <a:xfrm>
            <a:off x="6381750" y="1781175"/>
            <a:ext cx="5143500" cy="3381375"/>
          </a:xfrm>
          <a:prstGeom prst="roundRect">
            <a:avLst/>
          </a:prstGeom>
          <a:solidFill>
            <a:srgbClr val="FFF3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D9D4195-6848-45DD-8281-8440738DF954}"/>
              </a:ext>
            </a:extLst>
          </p:cNvPr>
          <p:cNvSpPr txBox="1"/>
          <p:nvPr/>
        </p:nvSpPr>
        <p:spPr>
          <a:xfrm>
            <a:off x="6591300" y="1990725"/>
            <a:ext cx="47244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D8912E"/>
                </a:solidFill>
                <a:latin typeface="Arial"/>
                <a:ea typeface="Arial"/>
              </a:rPr>
              <a:t>KẾT NỐI MỚI: CẦN ĐƯỜNG VÀO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5B35EB4-F7ED-453C-AC5C-28EC62D3AC65}"/>
              </a:ext>
            </a:extLst>
          </p:cNvPr>
          <p:cNvSpPr txBox="1"/>
          <p:nvPr/>
        </p:nvSpPr>
        <p:spPr>
          <a:xfrm>
            <a:off x="6591300" y="2495550"/>
            <a:ext cx="4724400" cy="25050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Cần service listen, route, mapping/port forwarding và firewall cho phép. Port nguồn cũ không tự lắng nghe.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21DFE55-A857-4FE3-80F8-FCB3C215C259}"/>
              </a:ext>
            </a:extLst>
          </p:cNvPr>
          <p:cNvSpPr txBox="1"/>
          <p:nvPr/>
        </p:nvSpPr>
        <p:spPr>
          <a:xfrm>
            <a:off x="895350" y="5638800"/>
            <a:ext cx="10191750" cy="4857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72F3C"/>
                </a:solidFill>
                <a:latin typeface="Arial"/>
                <a:ea typeface="Arial"/>
              </a:rPr>
              <a:t>Vì vậy biết IP public của client chưa đủ để server mở một TCP connection mới.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E019742-2AD7-46ED-B3EF-1E1B15817A9E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NAT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7788272-CD6C-444D-B134-1BC9BDBC97D6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Cloud điều khiển thiết bị sau NAT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10FE1F7-A46E-4306-95F8-ABC10AD6CB92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26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EA9E52A-3B93-4DA4-AF21-9EF89C0A4BC3}"/>
              </a:ext>
            </a:extLst>
          </p:cNvPr>
          <p:cNvSpPr/>
          <p:nvPr/>
        </p:nvSpPr>
        <p:spPr>
          <a:xfrm>
            <a:off x="666750" y="1600200"/>
            <a:ext cx="3467100" cy="18288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9116CA9-5581-4FB1-AD3F-FA8B19D52EA7}"/>
              </a:ext>
            </a:extLst>
          </p:cNvPr>
          <p:cNvSpPr txBox="1"/>
          <p:nvPr/>
        </p:nvSpPr>
        <p:spPr>
          <a:xfrm>
            <a:off x="876300" y="1809750"/>
            <a:ext cx="30480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1  Giữ kết nối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8136418-D9B2-40E2-A207-1EEA78174D9B}"/>
              </a:ext>
            </a:extLst>
          </p:cNvPr>
          <p:cNvSpPr txBox="1"/>
          <p:nvPr/>
        </p:nvSpPr>
        <p:spPr>
          <a:xfrm>
            <a:off x="876300" y="2314575"/>
            <a:ext cx="3048000" cy="9525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MQTT/WebSocket + reconnect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BD47721-1946-4AFF-BFA1-A87B79339601}"/>
              </a:ext>
            </a:extLst>
          </p:cNvPr>
          <p:cNvSpPr/>
          <p:nvPr/>
        </p:nvSpPr>
        <p:spPr>
          <a:xfrm>
            <a:off x="4486275" y="1600200"/>
            <a:ext cx="3467100" cy="1828800"/>
          </a:xfrm>
          <a:prstGeom prst="roundRect">
            <a:avLst/>
          </a:prstGeom>
          <a:solidFill>
            <a:srgbClr val="FFF3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719B808-98DB-4C36-8F32-E480B031D150}"/>
              </a:ext>
            </a:extLst>
          </p:cNvPr>
          <p:cNvSpPr txBox="1"/>
          <p:nvPr/>
        </p:nvSpPr>
        <p:spPr>
          <a:xfrm>
            <a:off x="4695825" y="1809750"/>
            <a:ext cx="30480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D8912E"/>
                </a:solidFill>
                <a:latin typeface="Arial"/>
                <a:ea typeface="Arial"/>
              </a:rPr>
              <a:t>2  Mở cổng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1666436-9B1E-404C-BF99-EBF2F5919A74}"/>
              </a:ext>
            </a:extLst>
          </p:cNvPr>
          <p:cNvSpPr txBox="1"/>
          <p:nvPr/>
        </p:nvSpPr>
        <p:spPr>
          <a:xfrm>
            <a:off x="4695825" y="2314575"/>
            <a:ext cx="3048000" cy="9525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Port forwarding; cần public inbound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BE0259E-483D-4AF0-B510-6B168BE72BD1}"/>
              </a:ext>
            </a:extLst>
          </p:cNvPr>
          <p:cNvSpPr/>
          <p:nvPr/>
        </p:nvSpPr>
        <p:spPr>
          <a:xfrm>
            <a:off x="8305800" y="1600200"/>
            <a:ext cx="3467100" cy="18288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5CE3E69-D4FC-4FA9-AC24-FEDC7881A6BC}"/>
              </a:ext>
            </a:extLst>
          </p:cNvPr>
          <p:cNvSpPr txBox="1"/>
          <p:nvPr/>
        </p:nvSpPr>
        <p:spPr>
          <a:xfrm>
            <a:off x="8515350" y="1809750"/>
            <a:ext cx="30480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3  IPv6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AF0B74F-45B1-43EB-9A06-A16F82763896}"/>
              </a:ext>
            </a:extLst>
          </p:cNvPr>
          <p:cNvSpPr txBox="1"/>
          <p:nvPr/>
        </p:nvSpPr>
        <p:spPr>
          <a:xfrm>
            <a:off x="8515350" y="2314575"/>
            <a:ext cx="3048000" cy="9525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Địa chỉ toàn cục + firewall rule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9D95AA39-AA1B-4398-8AE0-4ADCC1F33E04}"/>
              </a:ext>
            </a:extLst>
          </p:cNvPr>
          <p:cNvSpPr/>
          <p:nvPr/>
        </p:nvSpPr>
        <p:spPr>
          <a:xfrm>
            <a:off x="666750" y="3790950"/>
            <a:ext cx="3467100" cy="18288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BEF5FB9-5C96-4340-A57A-8C80BF3368A6}"/>
              </a:ext>
            </a:extLst>
          </p:cNvPr>
          <p:cNvSpPr txBox="1"/>
          <p:nvPr/>
        </p:nvSpPr>
        <p:spPr>
          <a:xfrm>
            <a:off x="876300" y="4000500"/>
            <a:ext cx="30480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4  Tunnel / VPN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20AE290-EB1F-4301-AE5E-27CA9F66E27C}"/>
              </a:ext>
            </a:extLst>
          </p:cNvPr>
          <p:cNvSpPr txBox="1"/>
          <p:nvPr/>
        </p:nvSpPr>
        <p:spPr>
          <a:xfrm>
            <a:off x="876300" y="4505325"/>
            <a:ext cx="3048000" cy="9525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Client chủ động kết nối ra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C157499C-8E8E-4257-AE08-D681861AA589}"/>
              </a:ext>
            </a:extLst>
          </p:cNvPr>
          <p:cNvSpPr/>
          <p:nvPr/>
        </p:nvSpPr>
        <p:spPr>
          <a:xfrm>
            <a:off x="4486275" y="3790950"/>
            <a:ext cx="3467100" cy="182880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B8AC8D8-12B1-4CED-AAFA-E87049024204}"/>
              </a:ext>
            </a:extLst>
          </p:cNvPr>
          <p:cNvSpPr txBox="1"/>
          <p:nvPr/>
        </p:nvSpPr>
        <p:spPr>
          <a:xfrm>
            <a:off x="4695825" y="4000500"/>
            <a:ext cx="30480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5  ICE / STUN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9984230-9A15-407F-9960-F8F38FAB31C0}"/>
              </a:ext>
            </a:extLst>
          </p:cNvPr>
          <p:cNvSpPr txBox="1"/>
          <p:nvPr/>
        </p:nvSpPr>
        <p:spPr>
          <a:xfrm>
            <a:off x="4695825" y="4505325"/>
            <a:ext cx="3048000" cy="9525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Thử đường P2P qua NAT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4E5140BE-2AF2-4AD2-8CDE-6C50E8517FCF}"/>
              </a:ext>
            </a:extLst>
          </p:cNvPr>
          <p:cNvSpPr/>
          <p:nvPr/>
        </p:nvSpPr>
        <p:spPr>
          <a:xfrm>
            <a:off x="8305800" y="3790950"/>
            <a:ext cx="3467100" cy="1828800"/>
          </a:xfrm>
          <a:prstGeom prst="roundRect">
            <a:avLst/>
          </a:prstGeom>
          <a:solidFill>
            <a:srgbClr val="FFF3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A4DD16B-7706-4C5E-BD71-0F2B9A00FE0E}"/>
              </a:ext>
            </a:extLst>
          </p:cNvPr>
          <p:cNvSpPr txBox="1"/>
          <p:nvPr/>
        </p:nvSpPr>
        <p:spPr>
          <a:xfrm>
            <a:off x="8515350" y="4000500"/>
            <a:ext cx="30480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D8912E"/>
                </a:solidFill>
                <a:latin typeface="Arial"/>
                <a:ea typeface="Arial"/>
              </a:rPr>
              <a:t>6  TURN relay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99ECE8B-28CF-4733-8BB5-9321FD99486E}"/>
              </a:ext>
            </a:extLst>
          </p:cNvPr>
          <p:cNvSpPr txBox="1"/>
          <p:nvPr/>
        </p:nvSpPr>
        <p:spPr>
          <a:xfrm>
            <a:off x="8515350" y="4505325"/>
            <a:ext cx="3048000" cy="9525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Chuyển tiếp khi P2P thất bại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63BACBB-D8F7-45CC-BEE0-A7B46487413E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THỰC HÀNH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CABA86B-8744-4437-90B5-71AAF509656F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Demo: quan sát bằng lệnh và Wireshark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DD5B977-31C0-410C-8B84-BDDFB614449C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27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DE34414-16FA-4465-B3E5-77D32D822A3C}"/>
              </a:ext>
            </a:extLst>
          </p:cNvPr>
          <p:cNvSpPr/>
          <p:nvPr/>
        </p:nvSpPr>
        <p:spPr>
          <a:xfrm>
            <a:off x="666750" y="1609725"/>
            <a:ext cx="5105400" cy="19240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437B934-B948-494A-80C9-E4E162162F6E}"/>
              </a:ext>
            </a:extLst>
          </p:cNvPr>
          <p:cNvSpPr txBox="1"/>
          <p:nvPr/>
        </p:nvSpPr>
        <p:spPr>
          <a:xfrm>
            <a:off x="876300" y="1819275"/>
            <a:ext cx="46863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1  Cấu hình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A21D865-8C6A-4174-AAA9-1E74083265D4}"/>
              </a:ext>
            </a:extLst>
          </p:cNvPr>
          <p:cNvSpPr txBox="1"/>
          <p:nvPr/>
        </p:nvSpPr>
        <p:spPr>
          <a:xfrm>
            <a:off x="876300" y="2324100"/>
            <a:ext cx="4686300" cy="10477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ip addr / ipconfig</a:t>
            </a:r>
            <a:br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ip route / route print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C2464ED-0A71-4297-A619-5A7C2788847D}"/>
              </a:ext>
            </a:extLst>
          </p:cNvPr>
          <p:cNvSpPr/>
          <p:nvPr/>
        </p:nvSpPr>
        <p:spPr>
          <a:xfrm>
            <a:off x="6134100" y="1609725"/>
            <a:ext cx="5105400" cy="19240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3BAA4BA-B419-4CCE-9AF1-C489AF7DA6BE}"/>
              </a:ext>
            </a:extLst>
          </p:cNvPr>
          <p:cNvSpPr txBox="1"/>
          <p:nvPr/>
        </p:nvSpPr>
        <p:spPr>
          <a:xfrm>
            <a:off x="6343650" y="1819275"/>
            <a:ext cx="46863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2  Chặng kế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D6CCE4E-3A66-4D80-A497-75A28B769EDD}"/>
              </a:ext>
            </a:extLst>
          </p:cNvPr>
          <p:cNvSpPr txBox="1"/>
          <p:nvPr/>
        </p:nvSpPr>
        <p:spPr>
          <a:xfrm>
            <a:off x="6343650" y="2324100"/>
            <a:ext cx="4686300" cy="10477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ip neigh / arp -a</a:t>
            </a:r>
            <a:br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traceroute / tracert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3D05A82-26EB-4029-981F-D2590146CBB0}"/>
              </a:ext>
            </a:extLst>
          </p:cNvPr>
          <p:cNvSpPr/>
          <p:nvPr/>
        </p:nvSpPr>
        <p:spPr>
          <a:xfrm>
            <a:off x="666750" y="3838575"/>
            <a:ext cx="5105400" cy="19240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CB0C3E0-717E-431C-83B2-8447FEF07C55}"/>
              </a:ext>
            </a:extLst>
          </p:cNvPr>
          <p:cNvSpPr txBox="1"/>
          <p:nvPr/>
        </p:nvSpPr>
        <p:spPr>
          <a:xfrm>
            <a:off x="876300" y="4048125"/>
            <a:ext cx="46863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3  IP ngoài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C63FD16-CFFB-4D3B-BBCA-1079D4E7E14C}"/>
              </a:ext>
            </a:extLst>
          </p:cNvPr>
          <p:cNvSpPr txBox="1"/>
          <p:nvPr/>
        </p:nvSpPr>
        <p:spPr>
          <a:xfrm>
            <a:off x="876300" y="4552950"/>
            <a:ext cx="4686300" cy="10477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curl -4 ifconfig.me</a:t>
            </a:r>
            <a:br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so với WAN IP router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09A9D1A-2CFC-411C-A731-9C627B2AE7F0}"/>
              </a:ext>
            </a:extLst>
          </p:cNvPr>
          <p:cNvSpPr/>
          <p:nvPr/>
        </p:nvSpPr>
        <p:spPr>
          <a:xfrm>
            <a:off x="6134100" y="3838575"/>
            <a:ext cx="5105400" cy="1924050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7A9A4C2-99CE-4260-B74D-7A725D5A8629}"/>
              </a:ext>
            </a:extLst>
          </p:cNvPr>
          <p:cNvSpPr txBox="1"/>
          <p:nvPr/>
        </p:nvSpPr>
        <p:spPr>
          <a:xfrm>
            <a:off x="6343650" y="4048125"/>
            <a:ext cx="4686300" cy="3714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87E79"/>
                </a:solidFill>
                <a:latin typeface="Arial"/>
                <a:ea typeface="Arial"/>
              </a:rPr>
              <a:t>4  Header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52B9527-6D3A-4AF4-9E07-AB79A699DCD6}"/>
              </a:ext>
            </a:extLst>
          </p:cNvPr>
          <p:cNvSpPr txBox="1"/>
          <p:nvPr/>
        </p:nvSpPr>
        <p:spPr>
          <a:xfrm>
            <a:off x="6343650" y="4552950"/>
            <a:ext cx="4686300" cy="10477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Wireshark: Ethernet → IPv4</a:t>
            </a:r>
            <a:br/>
            <a:r>
              <a:rPr sz="1600">
                <a:solidFill>
                  <a:srgbClr val="172F3C"/>
                </a:solidFill>
                <a:latin typeface="Arial"/>
                <a:ea typeface="Arial"/>
              </a:rPr>
              <a:t>→ TCP → HTTP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BEEBAEA-ED2F-45D4-A430-D2BE22F33697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THỰC HÀNH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8A1470E-FE8E-4E03-8194-254E475FD28B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Thử tự giải thích gói tin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0088CC6-0A19-4752-89BD-3CCC85E6DE1C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28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894C50B-6B7E-41D9-BDE1-C3342CF76162}"/>
              </a:ext>
            </a:extLst>
          </p:cNvPr>
          <p:cNvSpPr/>
          <p:nvPr/>
        </p:nvSpPr>
        <p:spPr>
          <a:xfrm>
            <a:off x="676275" y="1552575"/>
            <a:ext cx="762000" cy="781050"/>
          </a:xfrm>
          <a:prstGeom prst="roundRect">
            <a:avLst/>
          </a:prstGeom>
          <a:solidFill>
            <a:srgbClr val="087E79"/>
          </a:solidFill>
        </p:spPr>
        <p:txBody>
          <a:bodyPr wrap="square" rtlCol="0" lIns="0" tIns="0" rIns="0" bIns="0" anchor="ctr"/>
          <a:lstStyle/>
          <a:p>
            <a:pPr algn="ctr"/>
            <a:r>
              <a:rPr sz="31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5D36A5C-310A-4FB2-BD39-864064625451}"/>
              </a:ext>
            </a:extLst>
          </p:cNvPr>
          <p:cNvSpPr txBox="1"/>
          <p:nvPr/>
        </p:nvSpPr>
        <p:spPr>
          <a:xfrm>
            <a:off x="1752600" y="1724025"/>
            <a:ext cx="9420225" cy="6477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72F3C"/>
                </a:solidFill>
                <a:latin typeface="Arial"/>
                <a:ea typeface="Arial"/>
              </a:rPr>
              <a:t>MAC đích của frame đầu tiên là ai?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FC0F310-293D-4533-9904-F29F75454F8D}"/>
              </a:ext>
            </a:extLst>
          </p:cNvPr>
          <p:cNvSpPr/>
          <p:nvPr/>
        </p:nvSpPr>
        <p:spPr>
          <a:xfrm>
            <a:off x="676275" y="2676525"/>
            <a:ext cx="762000" cy="781050"/>
          </a:xfrm>
          <a:prstGeom prst="roundRect">
            <a:avLst/>
          </a:prstGeom>
          <a:solidFill>
            <a:srgbClr val="087E79"/>
          </a:solidFill>
        </p:spPr>
        <p:txBody>
          <a:bodyPr wrap="square" rtlCol="0" lIns="0" tIns="0" rIns="0" bIns="0" anchor="ctr"/>
          <a:lstStyle/>
          <a:p>
            <a:pPr algn="ctr"/>
            <a:r>
              <a:rPr sz="31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77FD06F-1314-4831-A254-A9F7F9F52A6B}"/>
              </a:ext>
            </a:extLst>
          </p:cNvPr>
          <p:cNvSpPr txBox="1"/>
          <p:nvPr/>
        </p:nvSpPr>
        <p:spPr>
          <a:xfrm>
            <a:off x="1752600" y="2847975"/>
            <a:ext cx="9420225" cy="6477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72F3C"/>
                </a:solidFill>
                <a:latin typeface="Arial"/>
                <a:ea typeface="Arial"/>
              </a:rPr>
              <a:t>Router thay những trường nào?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A36EDAC-81DA-4D33-AFB5-DFE1431B35EB}"/>
              </a:ext>
            </a:extLst>
          </p:cNvPr>
          <p:cNvSpPr/>
          <p:nvPr/>
        </p:nvSpPr>
        <p:spPr>
          <a:xfrm>
            <a:off x="676275" y="3800475"/>
            <a:ext cx="762000" cy="781050"/>
          </a:xfrm>
          <a:prstGeom prst="roundRect">
            <a:avLst/>
          </a:prstGeom>
          <a:solidFill>
            <a:srgbClr val="087E79"/>
          </a:solidFill>
        </p:spPr>
        <p:txBody>
          <a:bodyPr wrap="square" rtlCol="0" lIns="0" tIns="0" rIns="0" bIns="0" anchor="ctr"/>
          <a:lstStyle/>
          <a:p>
            <a:pPr algn="ctr"/>
            <a:r>
              <a:rPr sz="31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217E640-DBD5-4F3C-83CE-6AAFC288009A}"/>
              </a:ext>
            </a:extLst>
          </p:cNvPr>
          <p:cNvSpPr txBox="1"/>
          <p:nvPr/>
        </p:nvSpPr>
        <p:spPr>
          <a:xfrm>
            <a:off x="1752600" y="3971925"/>
            <a:ext cx="9420225" cy="6477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72F3C"/>
                </a:solidFill>
                <a:latin typeface="Arial"/>
                <a:ea typeface="Arial"/>
              </a:rPr>
              <a:t>Server thấy IP/port nào sau NAT?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EA43139C-F95C-4AE4-9483-D406CE2DE428}"/>
              </a:ext>
            </a:extLst>
          </p:cNvPr>
          <p:cNvSpPr/>
          <p:nvPr/>
        </p:nvSpPr>
        <p:spPr>
          <a:xfrm>
            <a:off x="676275" y="4924425"/>
            <a:ext cx="762000" cy="781050"/>
          </a:xfrm>
          <a:prstGeom prst="roundRect">
            <a:avLst/>
          </a:prstGeom>
          <a:solidFill>
            <a:srgbClr val="087E79"/>
          </a:solidFill>
        </p:spPr>
        <p:txBody>
          <a:bodyPr wrap="square" rtlCol="0" lIns="0" tIns="0" rIns="0" bIns="0" anchor="ctr"/>
          <a:lstStyle/>
          <a:p>
            <a:pPr algn="ctr"/>
            <a:r>
              <a:rPr sz="3100" b="1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8E0DE4F-7101-459B-A299-21F568A010D1}"/>
              </a:ext>
            </a:extLst>
          </p:cNvPr>
          <p:cNvSpPr txBox="1"/>
          <p:nvPr/>
        </p:nvSpPr>
        <p:spPr>
          <a:xfrm>
            <a:off x="1752600" y="5095875"/>
            <a:ext cx="9420225" cy="6477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72F3C"/>
                </a:solidFill>
                <a:latin typeface="Arial"/>
                <a:ea typeface="Arial"/>
              </a:rPr>
              <a:t>Cloud gửi lệnh tới IoT sau CGNAT ra sao?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A38D377-0D13-4E48-A1C2-CD988C843AE5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1B6A8"/>
                </a:solidFill>
                <a:latin typeface="Arial"/>
                <a:ea typeface="Arial"/>
              </a:rPr>
              <a:t>TỔNG KẾT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FF6CEF9-AC7D-4A27-B763-9D3829B406A8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Cambria"/>
                <a:ea typeface="Cambria"/>
              </a:rPr>
              <a:t>Debug mạng theo tầng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780A3D7-DF0E-415E-B8E3-F62A58447648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rial"/>
                <a:ea typeface="Arial"/>
              </a:rPr>
              <a:t>29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EEA313B-359F-45A6-97FC-6BCCE11C17C1}"/>
              </a:ext>
            </a:extLst>
          </p:cNvPr>
          <p:cNvSpPr txBox="1"/>
          <p:nvPr/>
        </p:nvSpPr>
        <p:spPr>
          <a:xfrm>
            <a:off x="666750" y="1562100"/>
            <a:ext cx="6000750" cy="4286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21B6A8"/>
                </a:solidFill>
                <a:latin typeface="Arial"/>
                <a:ea typeface="Arial"/>
              </a:rPr>
              <a:t>Một phép thử ở mỗi tầng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5693E0F-8D40-473C-80A9-22444C3B9728}"/>
              </a:ext>
            </a:extLst>
          </p:cNvPr>
          <p:cNvSpPr/>
          <p:nvPr/>
        </p:nvSpPr>
        <p:spPr>
          <a:xfrm>
            <a:off x="638175" y="2181225"/>
            <a:ext cx="10715625" cy="752475"/>
          </a:xfrm>
          <a:prstGeom prst="roundRect">
            <a:avLst/>
          </a:prstGeom>
          <a:solidFill>
            <a:srgbClr val="1D394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798B8F2-7598-46F1-8F04-B90D53ECC49F}"/>
              </a:ext>
            </a:extLst>
          </p:cNvPr>
          <p:cNvSpPr/>
          <p:nvPr/>
        </p:nvSpPr>
        <p:spPr>
          <a:xfrm>
            <a:off x="638175" y="3048000"/>
            <a:ext cx="10715625" cy="752475"/>
          </a:xfrm>
          <a:prstGeom prst="roundRect">
            <a:avLst/>
          </a:prstGeom>
          <a:solidFill>
            <a:srgbClr val="1D394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B4A0310-82CF-40A0-87B3-765F17988D7C}"/>
              </a:ext>
            </a:extLst>
          </p:cNvPr>
          <p:cNvSpPr/>
          <p:nvPr/>
        </p:nvSpPr>
        <p:spPr>
          <a:xfrm>
            <a:off x="638175" y="3914775"/>
            <a:ext cx="10715625" cy="752475"/>
          </a:xfrm>
          <a:prstGeom prst="roundRect">
            <a:avLst/>
          </a:prstGeom>
          <a:solidFill>
            <a:srgbClr val="1D394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9445145-9B95-463E-8144-633ACA907198}"/>
              </a:ext>
            </a:extLst>
          </p:cNvPr>
          <p:cNvSpPr/>
          <p:nvPr/>
        </p:nvSpPr>
        <p:spPr>
          <a:xfrm>
            <a:off x="638175" y="4781550"/>
            <a:ext cx="10715625" cy="752475"/>
          </a:xfrm>
          <a:prstGeom prst="roundRect">
            <a:avLst/>
          </a:prstGeom>
          <a:solidFill>
            <a:srgbClr val="1D394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8EC92DC-9A2E-43B6-AD84-DCC0E5B024A4}"/>
              </a:ext>
            </a:extLst>
          </p:cNvPr>
          <p:cNvSpPr txBox="1"/>
          <p:nvPr/>
        </p:nvSpPr>
        <p:spPr>
          <a:xfrm>
            <a:off x="904875" y="2352675"/>
            <a:ext cx="9525000" cy="4286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  <a:ea typeface="Arial"/>
              </a:rPr>
              <a:t>1  Link: NIC, Wi-Fi, MAC, ARP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BAE89BC-B085-4D2C-A4F1-2B99DBE8A248}"/>
              </a:ext>
            </a:extLst>
          </p:cNvPr>
          <p:cNvSpPr txBox="1"/>
          <p:nvPr/>
        </p:nvSpPr>
        <p:spPr>
          <a:xfrm>
            <a:off x="904875" y="3219450"/>
            <a:ext cx="9525000" cy="4286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  <a:ea typeface="Arial"/>
              </a:rPr>
              <a:t>2  IP: địa chỉ, subnet, route, TTL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11484FD-637F-49F1-BD44-B44230765385}"/>
              </a:ext>
            </a:extLst>
          </p:cNvPr>
          <p:cNvSpPr txBox="1"/>
          <p:nvPr/>
        </p:nvSpPr>
        <p:spPr>
          <a:xfrm>
            <a:off x="904875" y="4086225"/>
            <a:ext cx="9525000" cy="4286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  <a:ea typeface="Arial"/>
              </a:rPr>
              <a:t>3  Transport: port, TCP/UDP, firewall/NAT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4AE1456-49A5-4AD0-93A4-B0FB4920C4D2}"/>
              </a:ext>
            </a:extLst>
          </p:cNvPr>
          <p:cNvSpPr txBox="1"/>
          <p:nvPr/>
        </p:nvSpPr>
        <p:spPr>
          <a:xfrm>
            <a:off x="904875" y="4953000"/>
            <a:ext cx="9525000" cy="4286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  <a:ea typeface="Arial"/>
              </a:rPr>
              <a:t>4  Ứng dụng: DNS, TLS, HTTP/MQTT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E2C46F2-4C9E-4605-9136-980CB3423B97}"/>
              </a:ext>
            </a:extLst>
          </p:cNvPr>
          <p:cNvSpPr txBox="1"/>
          <p:nvPr/>
        </p:nvSpPr>
        <p:spPr>
          <a:xfrm>
            <a:off x="647700" y="628650"/>
            <a:ext cx="5334000" cy="2857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B6A8"/>
                </a:solidFill>
                <a:latin typeface="Arial"/>
                <a:ea typeface="Arial"/>
              </a:rPr>
              <a:t>BÀI GIẢNG · 110 PHÚT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1C986C9-EEFD-4B20-9D4C-17635A497F28}"/>
              </a:ext>
            </a:extLst>
          </p:cNvPr>
          <p:cNvSpPr txBox="1"/>
          <p:nvPr/>
        </p:nvSpPr>
        <p:spPr>
          <a:xfrm>
            <a:off x="647700" y="1371600"/>
            <a:ext cx="6286500" cy="16192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  <a:ea typeface="Cambria"/>
              </a:rPr>
              <a:t>Mạng máy tính</a:t>
            </a:r>
            <a:br/>
            <a:r>
              <a:rPr sz="4800" b="1">
                <a:solidFill>
                  <a:srgbClr val="FFFFFF"/>
                </a:solidFill>
                <a:latin typeface="Cambria"/>
                <a:ea typeface="Cambria"/>
              </a:rPr>
              <a:t>dưới lớp socket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659CE52-4A96-4EA4-90B1-11E255D789FB}"/>
              </a:ext>
            </a:extLst>
          </p:cNvPr>
          <p:cNvSpPr txBox="1"/>
          <p:nvPr/>
        </p:nvSpPr>
        <p:spPr>
          <a:xfrm>
            <a:off x="657225" y="3238500"/>
            <a:ext cx="5905500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100">
                <a:solidFill>
                  <a:srgbClr val="FFFFFF"/>
                </a:solidFill>
                <a:latin typeface="Arial"/>
                <a:ea typeface="Arial"/>
              </a:rPr>
              <a:t>7 tầng OSI  ·  đường đi của gói tin  ·  NAT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A759D07-4263-4B67-9A59-C3A675B9C1C3}"/>
              </a:ext>
            </a:extLst>
          </p:cNvPr>
          <p:cNvSpPr txBox="1"/>
          <p:nvPr/>
        </p:nvSpPr>
        <p:spPr>
          <a:xfrm>
            <a:off x="657225" y="3876675"/>
            <a:ext cx="5715000" cy="3810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21B6A8"/>
                </a:solidFill>
                <a:latin typeface="Arial"/>
                <a:ea typeface="Arial"/>
              </a:rPr>
              <a:t>Từ send() đến server — và quay về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942BB5E-6D14-4F93-9A5B-3AECB6780DF9}"/>
              </a:ext>
            </a:extLst>
          </p:cNvPr>
          <p:cNvSpPr/>
          <p:nvPr/>
        </p:nvSpPr>
        <p:spPr>
          <a:xfrm>
            <a:off x="7381875" y="876300"/>
            <a:ext cx="3905250" cy="4448175"/>
          </a:xfrm>
          <a:prstGeom prst="roundRect">
            <a:avLst/>
          </a:prstGeom>
          <a:solidFill>
            <a:srgbClr val="1D394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6A1C3A3-AECF-4519-BED0-8ECB6B7472CD}"/>
              </a:ext>
            </a:extLst>
          </p:cNvPr>
          <p:cNvSpPr/>
          <p:nvPr/>
        </p:nvSpPr>
        <p:spPr>
          <a:xfrm>
            <a:off x="7772400" y="1362075"/>
            <a:ext cx="3124200" cy="962025"/>
          </a:xfrm>
          <a:prstGeom prst="roundRect">
            <a:avLst/>
          </a:prstGeom>
          <a:solidFill>
            <a:srgbClr val="087E79"/>
          </a:solidFill>
        </p:spPr>
        <p:txBody>
          <a:bodyPr wrap="square" rtlCol="0" lIns="0" tIns="0" rIns="0" bIns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Arial"/>
              </a:rPr>
              <a:t>FRAME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5DF34B4-F5B7-407D-A6DE-1E44DA2F1395}"/>
              </a:ext>
            </a:extLst>
          </p:cNvPr>
          <p:cNvSpPr/>
          <p:nvPr/>
        </p:nvSpPr>
        <p:spPr>
          <a:xfrm>
            <a:off x="8115300" y="2609850"/>
            <a:ext cx="2447925" cy="962025"/>
          </a:xfrm>
          <a:prstGeom prst="roundRect">
            <a:avLst/>
          </a:prstGeom>
          <a:solidFill>
            <a:srgbClr val="E8F5F3"/>
          </a:solidFill>
        </p:spPr>
        <p:txBody>
          <a:bodyPr wrap="square" rtlCol="0" lIns="0" tIns="0" rIns="0" bIns="0" anchor="ctr"/>
          <a:lstStyle/>
          <a:p>
            <a:pPr algn="ctr"/>
            <a:r>
              <a:rPr sz="1900" b="1">
                <a:solidFill>
                  <a:srgbClr val="087E79"/>
                </a:solidFill>
                <a:latin typeface="Arial"/>
                <a:ea typeface="Arial"/>
              </a:rPr>
              <a:t>IP PACKET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6EC3259-3F19-487D-9C2F-33FCCC93EA59}"/>
              </a:ext>
            </a:extLst>
          </p:cNvPr>
          <p:cNvSpPr/>
          <p:nvPr/>
        </p:nvSpPr>
        <p:spPr>
          <a:xfrm>
            <a:off x="8429625" y="3857625"/>
            <a:ext cx="1809750" cy="962025"/>
          </a:xfrm>
          <a:prstGeom prst="roundRect">
            <a:avLst/>
          </a:prstGeom>
          <a:solidFill>
            <a:srgbClr val="FFF3DD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72F3C"/>
                </a:solidFill>
                <a:latin typeface="Arial"/>
                <a:ea typeface="Arial"/>
              </a:rPr>
              <a:t>TCP + DATA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35FDEE4-B209-4D30-827C-7C491B659B63}"/>
              </a:ext>
            </a:extLst>
          </p:cNvPr>
          <p:cNvSpPr txBox="1"/>
          <p:nvPr/>
        </p:nvSpPr>
        <p:spPr>
          <a:xfrm>
            <a:off x="590550" y="314325"/>
            <a:ext cx="904875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87E79"/>
                </a:solidFill>
                <a:latin typeface="Arial"/>
                <a:ea typeface="Arial"/>
              </a:rPr>
              <a:t>INTERFACE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F484469-98B9-426B-AAD8-97FCCD5CE26C}"/>
              </a:ext>
            </a:extLst>
          </p:cNvPr>
          <p:cNvSpPr txBox="1"/>
          <p:nvPr/>
        </p:nvSpPr>
        <p:spPr>
          <a:xfrm>
            <a:off x="590550" y="609600"/>
            <a:ext cx="10668000" cy="69532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172F3C"/>
                </a:solidFill>
                <a:latin typeface="Cambria"/>
                <a:ea typeface="Cambria"/>
              </a:rPr>
              <a:t>Chiều nhận: tới đúng socket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789DBA7-8163-4407-9A52-58AEACEDA9F2}"/>
              </a:ext>
            </a:extLst>
          </p:cNvPr>
          <p:cNvSpPr txBox="1"/>
          <p:nvPr/>
        </p:nvSpPr>
        <p:spPr>
          <a:xfrm>
            <a:off x="11182350" y="6286500"/>
            <a:ext cx="4572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r"/>
            <a:r>
              <a:rPr sz="1100">
                <a:solidFill>
                  <a:srgbClr val="5F7580"/>
                </a:solidFill>
                <a:latin typeface="Arial"/>
                <a:ea typeface="Arial"/>
              </a:rPr>
              <a:t>08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1AEB2CD-89EE-48F6-9A4E-BE1BE107945E}"/>
              </a:ext>
            </a:extLst>
          </p:cNvPr>
          <p:cNvSpPr/>
          <p:nvPr/>
        </p:nvSpPr>
        <p:spPr>
          <a:xfrm>
            <a:off x="638175" y="1895475"/>
            <a:ext cx="2381250" cy="2447925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ACF0184-303F-4C45-9F47-0D16F7D6A6F1}"/>
              </a:ext>
            </a:extLst>
          </p:cNvPr>
          <p:cNvSpPr txBox="1"/>
          <p:nvPr/>
        </p:nvSpPr>
        <p:spPr>
          <a:xfrm>
            <a:off x="809625" y="2152650"/>
            <a:ext cx="2047875" cy="3333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87E79"/>
                </a:solidFill>
                <a:latin typeface="Arial"/>
                <a:ea typeface="Arial"/>
              </a:rPr>
              <a:t>EtherType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DA3BBA3-6DCA-4DB6-8EA1-6656EA2D0569}"/>
              </a:ext>
            </a:extLst>
          </p:cNvPr>
          <p:cNvSpPr txBox="1"/>
          <p:nvPr/>
        </p:nvSpPr>
        <p:spPr>
          <a:xfrm>
            <a:off x="809625" y="2724150"/>
            <a:ext cx="2047875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72F3C"/>
                </a:solidFill>
                <a:latin typeface="Arial"/>
                <a:ea typeface="Arial"/>
              </a:rPr>
              <a:t>0x0800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1F795B8-3E78-4229-9E36-EBEC6E59372C}"/>
              </a:ext>
            </a:extLst>
          </p:cNvPr>
          <p:cNvSpPr txBox="1"/>
          <p:nvPr/>
        </p:nvSpPr>
        <p:spPr>
          <a:xfrm>
            <a:off x="809625" y="3629025"/>
            <a:ext cx="2047875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5F7580"/>
                </a:solidFill>
                <a:latin typeface="Arial"/>
                <a:ea typeface="Arial"/>
              </a:rPr>
              <a:t>IPv4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D0A201C2-7D4D-41A1-B710-060549AB69E6}"/>
              </a:ext>
            </a:extLst>
          </p:cNvPr>
          <p:cNvCxnSpPr/>
          <p:nvPr/>
        </p:nvCxnSpPr>
        <p:spPr>
          <a:xfrm>
            <a:off x="3057525" y="3095625"/>
            <a:ext cx="390525" cy="9525"/>
          </a:xfrm>
          <a:prstGeom prst="straightConnector1">
            <a:avLst/>
          </a:prstGeom>
          <a:ln w="38100" cap="flat">
            <a:solidFill>
              <a:srgbClr val="087E79"/>
            </a:solidFill>
            <a:tailEnd type="triangle" w="med" len="med"/>
          </a:ln>
        </p:spPr>
      </p:cxnSp>
      <p:sp>
        <p:nvSpPr>
          <p:cNvPr id="11" name="Shape 11">
            <a:extLst>
              <a:ext uri="{FF2B5EF4-FFF2-40B4-BE49-F238E27FC236}">
                <a16:creationId xmlns:a16="http://schemas.microsoft.com/office/drawing/2014/main" id="{E5BB53AF-4EE6-42BA-BF34-78DF794AC308}"/>
              </a:ext>
            </a:extLst>
          </p:cNvPr>
          <p:cNvSpPr/>
          <p:nvPr/>
        </p:nvSpPr>
        <p:spPr>
          <a:xfrm>
            <a:off x="3495675" y="1895475"/>
            <a:ext cx="2381250" cy="244792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689BE9E-1B5C-485E-A32C-DDF71CCBA087}"/>
              </a:ext>
            </a:extLst>
          </p:cNvPr>
          <p:cNvSpPr txBox="1"/>
          <p:nvPr/>
        </p:nvSpPr>
        <p:spPr>
          <a:xfrm>
            <a:off x="3667125" y="2152650"/>
            <a:ext cx="2047875" cy="3333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87E79"/>
                </a:solidFill>
                <a:latin typeface="Arial"/>
                <a:ea typeface="Arial"/>
              </a:rPr>
              <a:t>Protocol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5E945C5-044D-4103-BE30-655A1744E323}"/>
              </a:ext>
            </a:extLst>
          </p:cNvPr>
          <p:cNvSpPr txBox="1"/>
          <p:nvPr/>
        </p:nvSpPr>
        <p:spPr>
          <a:xfrm>
            <a:off x="3667125" y="2724150"/>
            <a:ext cx="2047875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72F3C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6FE5E61-64BE-41EF-BC7E-18749D13DF8A}"/>
              </a:ext>
            </a:extLst>
          </p:cNvPr>
          <p:cNvSpPr txBox="1"/>
          <p:nvPr/>
        </p:nvSpPr>
        <p:spPr>
          <a:xfrm>
            <a:off x="3667125" y="3629025"/>
            <a:ext cx="2047875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5F7580"/>
                </a:solidFill>
                <a:latin typeface="Arial"/>
                <a:ea typeface="Arial"/>
              </a:rPr>
              <a:t>TCP</a:t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00BAEFA0-42B9-4B4E-ACD1-904BDE98E82A}"/>
              </a:ext>
            </a:extLst>
          </p:cNvPr>
          <p:cNvCxnSpPr/>
          <p:nvPr/>
        </p:nvCxnSpPr>
        <p:spPr>
          <a:xfrm>
            <a:off x="5915025" y="3095625"/>
            <a:ext cx="390525" cy="9525"/>
          </a:xfrm>
          <a:prstGeom prst="straightConnector1">
            <a:avLst/>
          </a:prstGeom>
          <a:ln w="38100" cap="flat">
            <a:solidFill>
              <a:srgbClr val="087E79"/>
            </a:solidFill>
            <a:tailEnd type="triangle" w="med" len="med"/>
          </a:ln>
        </p:spPr>
      </p:cxnSp>
      <p:sp>
        <p:nvSpPr>
          <p:cNvPr id="16" name="Shape 16">
            <a:extLst>
              <a:ext uri="{FF2B5EF4-FFF2-40B4-BE49-F238E27FC236}">
                <a16:creationId xmlns:a16="http://schemas.microsoft.com/office/drawing/2014/main" id="{30AE2A64-71F5-42E6-951D-E85A855FAEDF}"/>
              </a:ext>
            </a:extLst>
          </p:cNvPr>
          <p:cNvSpPr/>
          <p:nvPr/>
        </p:nvSpPr>
        <p:spPr>
          <a:xfrm>
            <a:off x="6353175" y="1895475"/>
            <a:ext cx="2381250" cy="2447925"/>
          </a:xfrm>
          <a:prstGeom prst="roundRect">
            <a:avLst/>
          </a:prstGeom>
          <a:solidFill>
            <a:srgbClr val="E8F5F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D1EE51C-2626-471F-B644-7C9F4949D4E7}"/>
              </a:ext>
            </a:extLst>
          </p:cNvPr>
          <p:cNvSpPr txBox="1"/>
          <p:nvPr/>
        </p:nvSpPr>
        <p:spPr>
          <a:xfrm>
            <a:off x="6524625" y="2152650"/>
            <a:ext cx="2047875" cy="3333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87E79"/>
                </a:solidFill>
                <a:latin typeface="Arial"/>
                <a:ea typeface="Arial"/>
              </a:rPr>
              <a:t>dst port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ADA4942-B33A-450F-899E-71439193F7CA}"/>
              </a:ext>
            </a:extLst>
          </p:cNvPr>
          <p:cNvSpPr txBox="1"/>
          <p:nvPr/>
        </p:nvSpPr>
        <p:spPr>
          <a:xfrm>
            <a:off x="6524625" y="2724150"/>
            <a:ext cx="2047875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72F3C"/>
                </a:solidFill>
                <a:latin typeface="Arial"/>
                <a:ea typeface="Arial"/>
              </a:rPr>
              <a:t>443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2BF5065-CAA1-48CD-BA02-31A77115A273}"/>
              </a:ext>
            </a:extLst>
          </p:cNvPr>
          <p:cNvSpPr txBox="1"/>
          <p:nvPr/>
        </p:nvSpPr>
        <p:spPr>
          <a:xfrm>
            <a:off x="6524625" y="3629025"/>
            <a:ext cx="2047875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5F7580"/>
                </a:solidFill>
                <a:latin typeface="Arial"/>
                <a:ea typeface="Arial"/>
              </a:rPr>
              <a:t>Socket</a:t>
            </a:r>
          </a:p>
        </p:txBody>
      </p: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295B6B14-8661-4D24-8804-DF837ED8C140}"/>
              </a:ext>
            </a:extLst>
          </p:cNvPr>
          <p:cNvCxnSpPr/>
          <p:nvPr/>
        </p:nvCxnSpPr>
        <p:spPr>
          <a:xfrm>
            <a:off x="8772525" y="3095625"/>
            <a:ext cx="390525" cy="9525"/>
          </a:xfrm>
          <a:prstGeom prst="straightConnector1">
            <a:avLst/>
          </a:prstGeom>
          <a:ln w="38100" cap="flat">
            <a:solidFill>
              <a:srgbClr val="087E79"/>
            </a:solidFill>
            <a:tailEnd type="triangle" w="med" len="med"/>
          </a:ln>
        </p:spPr>
      </p:cxnSp>
      <p:sp>
        <p:nvSpPr>
          <p:cNvPr id="21" name="Shape 21">
            <a:extLst>
              <a:ext uri="{FF2B5EF4-FFF2-40B4-BE49-F238E27FC236}">
                <a16:creationId xmlns:a16="http://schemas.microsoft.com/office/drawing/2014/main" id="{57FB15BA-227A-4E3B-AFA2-5D47408D4240}"/>
              </a:ext>
            </a:extLst>
          </p:cNvPr>
          <p:cNvSpPr/>
          <p:nvPr/>
        </p:nvSpPr>
        <p:spPr>
          <a:xfrm>
            <a:off x="9210675" y="1895475"/>
            <a:ext cx="2381250" cy="2447925"/>
          </a:xfrm>
          <a:prstGeom prst="roundRect">
            <a:avLst/>
          </a:prstGeom>
          <a:solidFill>
            <a:srgbClr val="F4F8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0521BCD-FCA1-46EC-84B5-A6506CBBCA3B}"/>
              </a:ext>
            </a:extLst>
          </p:cNvPr>
          <p:cNvSpPr txBox="1"/>
          <p:nvPr/>
        </p:nvSpPr>
        <p:spPr>
          <a:xfrm>
            <a:off x="9382125" y="2152650"/>
            <a:ext cx="2047875" cy="333375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87E79"/>
                </a:solidFill>
                <a:latin typeface="Arial"/>
                <a:ea typeface="Arial"/>
              </a:rPr>
              <a:t>5-tuple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E53F58A-0B56-43ED-9CCF-9100A91C05F2}"/>
              </a:ext>
            </a:extLst>
          </p:cNvPr>
          <p:cNvSpPr txBox="1"/>
          <p:nvPr/>
        </p:nvSpPr>
        <p:spPr>
          <a:xfrm>
            <a:off x="9382125" y="2724150"/>
            <a:ext cx="2047875" cy="82296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72F3C"/>
                </a:solidFill>
                <a:latin typeface="Arial"/>
                <a:ea typeface="Arial"/>
              </a:rPr>
              <a:t>hai IP + hai port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A884662-D3EB-4BCA-B84E-49FB04D6535A}"/>
              </a:ext>
            </a:extLst>
          </p:cNvPr>
          <p:cNvSpPr txBox="1"/>
          <p:nvPr/>
        </p:nvSpPr>
        <p:spPr>
          <a:xfrm>
            <a:off x="9382125" y="3629025"/>
            <a:ext cx="2047875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5F7580"/>
                </a:solidFill>
                <a:latin typeface="Arial"/>
                <a:ea typeface="Arial"/>
              </a:rPr>
              <a:t>Kết nối cụ thể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231760D-BB0F-4E2A-B56B-066D82FADAF8}"/>
              </a:ext>
            </a:extLst>
          </p:cNvPr>
          <p:cNvSpPr txBox="1"/>
          <p:nvPr/>
        </p:nvSpPr>
        <p:spPr>
          <a:xfrm>
            <a:off x="762000" y="4972050"/>
            <a:ext cx="10477500" cy="514350"/>
          </a:xfrm>
        </p:spPr>
        <p:txBody>
          <a:bodyPr wrap="square" rtlCol="0" lIns="0" tIns="0" rIns="0" bIns="0" anchor="t">
            <a:spAutoFit/>
          </a:bodyPr>
          <a:lstStyle/>
          <a:p>
            <a:pPr algn="l"/>
            <a:r>
              <a:rPr sz="2200">
                <a:solidFill>
                  <a:srgbClr val="172F3C"/>
                </a:solidFill>
                <a:latin typeface="Arial"/>
                <a:ea typeface="Arial"/>
              </a:rPr>
              <a:t>Port là trường định danh endpoint; Socket API mới là interface lập trình.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