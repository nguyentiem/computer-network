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256032"/>
            <a:ext cx="4572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ED3D1"/>
                </a:solidFill>
                <a:latin typeface="Aptos"/>
              </a:defRPr>
            </a:pPr>
            <a:r>
              <a:t>BÀI GIẢNG 110 PHÚT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03504"/>
            <a:ext cx="1120140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Mạng máy tính: từ socket đến dây mạng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6501384"/>
            <a:ext cx="11201400" cy="12801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8BACD"/>
                </a:solidFill>
                <a:latin typeface="Aptos"/>
              </a:defRPr>
            </a:pPr>
            <a:r>
              <a:t>OSI • TCP/IP • đường đi gói tin • NAT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029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A8BAC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45920"/>
            <a:ext cx="10789920" cy="10058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3ED3D1"/>
                </a:solidFill>
                <a:latin typeface="Aptos"/>
              </a:defRPr>
            </a:pPr>
            <a:r>
              <a:t>7 tầng OSI • interface giữa các tầng • cấu trúc dữ liệu • NAT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26080"/>
            <a:ext cx="1051560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F5F8FC"/>
                </a:solidFill>
                <a:latin typeface="Aptos"/>
              </a:defRPr>
            </a:pPr>
            <a:r>
              <a:t>Dành cho người đã biết lập trình/socket cơ bản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977639"/>
            <a:ext cx="10881360" cy="134416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87952"/>
            <a:ext cx="33832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FC156"/>
                </a:solidFill>
                <a:latin typeface="Aptos"/>
              </a:defRPr>
            </a:pPr>
            <a:r>
              <a:t>Câu hỏi xuyên suốt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99432"/>
            <a:ext cx="10241280" cy="4846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F5F8FC"/>
                </a:solidFill>
                <a:latin typeface="Aptos"/>
              </a:defRPr>
            </a:pPr>
            <a:r>
              <a:t>send() đi qua những tầng nào — và server trả lời về bằng cách nào?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256032"/>
            <a:ext cx="4572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ED3D1"/>
                </a:solidFill>
                <a:latin typeface="Aptos"/>
              </a:defRPr>
            </a:pPr>
            <a:r>
              <a:t>MẠNG MÁY TÍNH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03504"/>
            <a:ext cx="1120140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Học xong, bạn sẽ làm được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6501384"/>
            <a:ext cx="11201400" cy="12801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8BACD"/>
                </a:solidFill>
                <a:latin typeface="Aptos"/>
              </a:defRPr>
            </a:pPr>
            <a:r>
              <a:t>OSI • TCP/IP • đường đi gói tin • NAT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029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A8BAC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417320"/>
            <a:ext cx="91440" cy="9144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16736"/>
            <a:ext cx="10789920" cy="1143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F5F8FC"/>
                </a:solidFill>
                <a:latin typeface="Aptos"/>
              </a:defRPr>
            </a:pPr>
            <a:r>
              <a:t>Vẽ đường đi: ứng dụng → socket → TCP/UDP → IP → link → PHY.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2606040"/>
            <a:ext cx="91440" cy="9144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05456"/>
            <a:ext cx="10789920" cy="1143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F5F8FC"/>
                </a:solidFill>
                <a:latin typeface="Aptos"/>
              </a:defRPr>
            </a:pPr>
            <a:r>
              <a:t>Đọc header Ethernet, IPv4, TCP/UDP và giải thích trường phân kênh.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3794760"/>
            <a:ext cx="91440" cy="9144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694176"/>
            <a:ext cx="10789920" cy="1143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F5F8FC"/>
                </a:solidFill>
                <a:latin typeface="Aptos"/>
              </a:defRPr>
            </a:pPr>
            <a:r>
              <a:t>Theo dõi MAC, IP, port, TTL qua router và NAT.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4983480"/>
            <a:ext cx="91440" cy="9144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882896"/>
            <a:ext cx="10789920" cy="1143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F5F8FC"/>
                </a:solidFill>
                <a:latin typeface="Aptos"/>
              </a:defRPr>
            </a:pPr>
            <a:r>
              <a:t>Thiết kế đường cloud → thiết bị sau NAT/CGNAT.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256032"/>
            <a:ext cx="4572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ED3D1"/>
                </a:solidFill>
                <a:latin typeface="Aptos"/>
              </a:defRPr>
            </a:pPr>
            <a:r>
              <a:t>MẠNG MÁY TÍNH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03504"/>
            <a:ext cx="1120140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Lịch buổi học 110 phút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6501384"/>
            <a:ext cx="11201400" cy="12801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8BACD"/>
                </a:solidFill>
                <a:latin typeface="Aptos"/>
              </a:defRPr>
            </a:pPr>
            <a:r>
              <a:t>OSI • TCP/IP • đường đi gói tin • NAT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029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A8BAC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" y="1399032"/>
            <a:ext cx="1517904" cy="621792"/>
          </a:xfrm>
          <a:prstGeom prst="round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1517904"/>
            <a:ext cx="1399032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3ED3D1"/>
                </a:solidFill>
                <a:latin typeface="Aptos"/>
              </a:defRPr>
            </a:pPr>
            <a:r>
              <a:t>Thời gian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39112" y="1399032"/>
            <a:ext cx="5541264" cy="621792"/>
          </a:xfrm>
          <a:prstGeom prst="round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39696" y="1517904"/>
            <a:ext cx="5422392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3ED3D1"/>
                </a:solidFill>
                <a:latin typeface="Aptos"/>
              </a:defRPr>
            </a:pPr>
            <a:r>
              <a:t>Nội dung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16952" y="1399032"/>
            <a:ext cx="3986784" cy="621792"/>
          </a:xfrm>
          <a:prstGeom prst="round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17536" y="1517904"/>
            <a:ext cx="3867912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3ED3D1"/>
                </a:solidFill>
                <a:latin typeface="Aptos"/>
              </a:defRPr>
            </a:pPr>
            <a:r>
              <a:t>Đầu 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2020824"/>
            <a:ext cx="151790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2093976"/>
            <a:ext cx="138074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0–20′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39112" y="2020824"/>
            <a:ext cx="554126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39696" y="2093976"/>
            <a:ext cx="5404103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Thiết bị, OSI/TCP-IP, đóng gói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16952" y="2020824"/>
            <a:ext cx="398678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17536" y="2093976"/>
            <a:ext cx="384962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Vẽ PDU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" y="2642616"/>
            <a:ext cx="151790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" y="2715768"/>
            <a:ext cx="138074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20–50′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39112" y="2642616"/>
            <a:ext cx="554126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39696" y="2715768"/>
            <a:ext cx="5404103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Interface, header, cấu trúc stack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16952" y="2642616"/>
            <a:ext cx="398678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17536" y="2715768"/>
            <a:ext cx="384962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Đọc header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" y="3264408"/>
            <a:ext cx="151790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" y="3337560"/>
            <a:ext cx="138074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50–79′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39112" y="3264408"/>
            <a:ext cx="554126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39696" y="3337560"/>
            <a:ext cx="5404103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PHY/Link, IP, routing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16952" y="3264408"/>
            <a:ext cx="398678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17536" y="3337560"/>
            <a:ext cx="384962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Theo gói A→B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4632" y="3886200"/>
            <a:ext cx="151790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" y="3959352"/>
            <a:ext cx="138074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79–93′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39112" y="3886200"/>
            <a:ext cx="554126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39696" y="3959352"/>
            <a:ext cx="5404103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TCP/UDP, HTTPS, NAT/CGNAT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16952" y="3886200"/>
            <a:ext cx="398678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17536" y="3959352"/>
            <a:ext cx="384962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Giải thích reverse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" y="4507992"/>
            <a:ext cx="151790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" y="4581144"/>
            <a:ext cx="138074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93–110′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039112" y="4507992"/>
            <a:ext cx="554126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39696" y="4581144"/>
            <a:ext cx="5404103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Demo, bài tập, tổng kết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16952" y="4507992"/>
            <a:ext cx="398678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17536" y="4581144"/>
            <a:ext cx="384962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Thiết kế IoT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256032"/>
            <a:ext cx="4572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ED3D1"/>
                </a:solidFill>
                <a:latin typeface="Aptos"/>
              </a:defRPr>
            </a:pPr>
            <a:r>
              <a:t>MẠNG MÁY TÍNH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03504"/>
            <a:ext cx="1120140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Các thiết bị trong cùng một đường đi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6501384"/>
            <a:ext cx="11201400" cy="12801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8BACD"/>
                </a:solidFill>
                <a:latin typeface="Aptos"/>
              </a:defRPr>
            </a:pPr>
            <a:r>
              <a:t>OSI • TCP/IP • đường đi gói tin • NAT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029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A8BAC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36192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Host + NIC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Host chạy ứng dụng. NIC/driver nối host với Ethernet, Wi-Fi hoặc mạng khác.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8483" y="1371600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1364" y="1536192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Switch + Access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1364" y="2011680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Switch chuyển frame theo MAC trong LAN/VLAN. AP nối thiết bị Wi-Fi vào mạng.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50208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Router + 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90288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Router chọn chặng tiếp theo theo IP. Default gateway là next hop mặc định của host.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8483" y="3950208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1364" y="4114800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Modem/ONT + ISP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1364" y="4590288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Modem/ONT kết thúc đường truyền. ISP cung cấp kết nối và địa chỉ phía ngoài.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256032"/>
            <a:ext cx="4572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ED3D1"/>
                </a:solidFill>
                <a:latin typeface="Aptos"/>
              </a:defRPr>
            </a:pPr>
            <a:r>
              <a:t>MÔ HÌNH OSI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03504"/>
            <a:ext cx="1120140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7 tầng OSI: bản đồ nhanh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6501384"/>
            <a:ext cx="11201400" cy="12801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8BACD"/>
                </a:solidFill>
                <a:latin typeface="Aptos"/>
              </a:defRPr>
            </a:pPr>
            <a:r>
              <a:t>OSI • TCP/IP • đường đi gói tin • NAT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029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A8BAC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" y="1399032"/>
            <a:ext cx="694944" cy="605790"/>
          </a:xfrm>
          <a:prstGeom prst="round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1517904"/>
            <a:ext cx="576072" cy="49606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3ED3D1"/>
                </a:solidFill>
                <a:latin typeface="Aptos"/>
              </a:defRPr>
            </a:pPr>
            <a:r>
              <a:t>Tầng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16152" y="1399032"/>
            <a:ext cx="2752344" cy="605790"/>
          </a:xfrm>
          <a:prstGeom prst="round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16736" y="1517904"/>
            <a:ext cx="2633472" cy="49606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3ED3D1"/>
                </a:solidFill>
                <a:latin typeface="Aptos"/>
              </a:defRPr>
            </a:pPr>
            <a:r>
              <a:t>Tên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05072" y="1399032"/>
            <a:ext cx="2112264" cy="605790"/>
          </a:xfrm>
          <a:prstGeom prst="round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05656" y="1517904"/>
            <a:ext cx="1993392" cy="49606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3ED3D1"/>
                </a:solidFill>
                <a:latin typeface="Aptos"/>
              </a:defRPr>
            </a:pPr>
            <a:r>
              <a:t>PDU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1399032"/>
            <a:ext cx="5449824" cy="605790"/>
          </a:xfrm>
          <a:prstGeom prst="round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1517904"/>
            <a:ext cx="5330952" cy="49606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3ED3D1"/>
                </a:solidFill>
                <a:latin typeface="Aptos"/>
              </a:defRPr>
            </a:pPr>
            <a:r>
              <a:t>Ví dụ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" y="2004822"/>
            <a:ext cx="694944" cy="573786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2077974"/>
            <a:ext cx="557784" cy="53263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16152" y="2004822"/>
            <a:ext cx="2752344" cy="573786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16736" y="2077974"/>
            <a:ext cx="2615184" cy="53263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05072" y="2004822"/>
            <a:ext cx="2112264" cy="573786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05656" y="2077974"/>
            <a:ext cx="1975104" cy="53263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53912" y="2004822"/>
            <a:ext cx="5449824" cy="573786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4496" y="2077974"/>
            <a:ext cx="5312664" cy="53263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HTTP, DNS, MQTT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" y="2610612"/>
            <a:ext cx="694944" cy="573786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" y="2683764"/>
            <a:ext cx="557784" cy="53263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16152" y="2610612"/>
            <a:ext cx="2752344" cy="573786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6736" y="2683764"/>
            <a:ext cx="2615184" cy="53263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Presentation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05072" y="2610612"/>
            <a:ext cx="2112264" cy="573786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05656" y="2683764"/>
            <a:ext cx="1975104" cy="53263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53912" y="2610612"/>
            <a:ext cx="5449824" cy="573786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54496" y="2683764"/>
            <a:ext cx="5312664" cy="53263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UTF-8, JSON, TLS*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4632" y="3216402"/>
            <a:ext cx="694944" cy="573786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" y="3289554"/>
            <a:ext cx="557784" cy="53263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16152" y="3216402"/>
            <a:ext cx="2752344" cy="573786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16736" y="3289554"/>
            <a:ext cx="2615184" cy="53263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Session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05072" y="3216402"/>
            <a:ext cx="2112264" cy="573786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05656" y="3289554"/>
            <a:ext cx="1975104" cy="53263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53912" y="3216402"/>
            <a:ext cx="5449824" cy="573786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54496" y="3289554"/>
            <a:ext cx="5312664" cy="53263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RPC, phiên app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4632" y="3822191"/>
            <a:ext cx="694944" cy="573786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5216" y="3895344"/>
            <a:ext cx="557784" cy="53263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16152" y="3822191"/>
            <a:ext cx="2752344" cy="573786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16736" y="3895344"/>
            <a:ext cx="2615184" cy="53263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Transport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005072" y="3822191"/>
            <a:ext cx="2112264" cy="573786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05656" y="3895344"/>
            <a:ext cx="1975104" cy="53263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Segment/datagram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53912" y="3822191"/>
            <a:ext cx="5449824" cy="573786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54496" y="3895344"/>
            <a:ext cx="5312664" cy="53263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TCP, UDP, QUIC*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84632" y="4427982"/>
            <a:ext cx="694944" cy="573786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5216" y="4501134"/>
            <a:ext cx="557784" cy="53263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216152" y="4427982"/>
            <a:ext cx="2752344" cy="573786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16736" y="4501134"/>
            <a:ext cx="2615184" cy="53263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Network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005072" y="4427982"/>
            <a:ext cx="2112264" cy="573786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05656" y="4501134"/>
            <a:ext cx="1975104" cy="53263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Packet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53912" y="4427982"/>
            <a:ext cx="5449824" cy="573786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54496" y="4501134"/>
            <a:ext cx="5312664" cy="53263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IPv4/IPv6, ICMP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84632" y="5033772"/>
            <a:ext cx="694944" cy="573786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5216" y="5106924"/>
            <a:ext cx="557784" cy="53263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216152" y="5033772"/>
            <a:ext cx="2752344" cy="573786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16736" y="5106924"/>
            <a:ext cx="2615184" cy="53263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Data Link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005072" y="5033772"/>
            <a:ext cx="2112264" cy="573786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05656" y="5106924"/>
            <a:ext cx="1975104" cy="53263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Frame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53912" y="5033772"/>
            <a:ext cx="5449824" cy="573786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54496" y="5106924"/>
            <a:ext cx="5312664" cy="53263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Ethernet, Wi-Fi, ARP*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84632" y="5639562"/>
            <a:ext cx="694944" cy="573786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85216" y="5712714"/>
            <a:ext cx="557784" cy="53263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216152" y="5639562"/>
            <a:ext cx="2752344" cy="573786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16736" y="5712714"/>
            <a:ext cx="2615184" cy="53263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Physical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005072" y="5639562"/>
            <a:ext cx="2112264" cy="573786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05656" y="5712714"/>
            <a:ext cx="1975104" cy="53263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Bit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153912" y="5639562"/>
            <a:ext cx="5449824" cy="573786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54496" y="5712714"/>
            <a:ext cx="5312664" cy="53263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Đồng, quang, radio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256032"/>
            <a:ext cx="4572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ED3D1"/>
                </a:solidFill>
                <a:latin typeface="Aptos"/>
              </a:defRPr>
            </a:pPr>
            <a:r>
              <a:t>MÔ HÌNH OSI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03504"/>
            <a:ext cx="1120140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OSI là mô hình; TCP/IP là stack sử dụng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6501384"/>
            <a:ext cx="11201400" cy="12801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8BACD"/>
                </a:solidFill>
                <a:latin typeface="Aptos"/>
              </a:defRPr>
            </a:pPr>
            <a:r>
              <a:t>OSI • TCP/IP • đường đi gói tin • NAT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029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A8BAC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36192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TCP/IP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Gộp nhiều chức năng OSI 5–7. TLS không nằm gọn trong một lớp.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8483" y="1371600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1364" y="1536192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TCP/IP Transport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1364" y="2011680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TCP/UDP; QUIC chạy trên UDP và cung cấp transport riêng.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50208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TCP/IP Internet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90288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IP chuyển packet qua nhiều mạng; router tra địa chỉ IP đích.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8483" y="3950208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1364" y="4114800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TCP/IP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1364" y="4590288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Ethernet/Wi-Fi/PPP và PHY. Frame chỉ có ý nghĩa trên liên kết hiện tại.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256032"/>
            <a:ext cx="4572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ED3D1"/>
                </a:solidFill>
                <a:latin typeface="Aptos"/>
              </a:defRPr>
            </a:pPr>
            <a:r>
              <a:t>GÓI TIN / DATA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03504"/>
            <a:ext cx="1120140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Đóng gói và giải đóng gói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6501384"/>
            <a:ext cx="11201400" cy="12801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8BACD"/>
                </a:solidFill>
                <a:latin typeface="Aptos"/>
              </a:defRPr>
            </a:pPr>
            <a:r>
              <a:t>OSI • TCP/IP • đường đi gói tin • NAT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029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A8BAC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89888"/>
            <a:ext cx="11201400" cy="429768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45920"/>
            <a:ext cx="10652760" cy="3840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F5F8FC"/>
                </a:solidFill>
                <a:latin typeface="Consolas"/>
              </a:defRPr>
            </a:pPr>
            <a:r>
              <a:t>HTTP data</a:t>
            </a:r>
          </a:p>
          <a:p>
            <a:pPr>
              <a:spcAft>
                <a:spcPts val="700"/>
              </a:spcAft>
              <a:defRPr sz="2200" b="0">
                <a:solidFill>
                  <a:srgbClr val="F5F8FC"/>
                </a:solidFill>
                <a:latin typeface="Consolas"/>
              </a:defRPr>
            </a:pPr>
            <a:r>
              <a:t>  ↓ + TCP header        → TCP segment</a:t>
            </a:r>
          </a:p>
          <a:p>
            <a:pPr>
              <a:spcAft>
                <a:spcPts val="700"/>
              </a:spcAft>
              <a:defRPr sz="2200" b="0">
                <a:solidFill>
                  <a:srgbClr val="F5F8FC"/>
                </a:solidFill>
                <a:latin typeface="Consolas"/>
              </a:defRPr>
            </a:pPr>
            <a:r>
              <a:t>  ↓ + IPv4 header       → IP packet</a:t>
            </a:r>
          </a:p>
          <a:p>
            <a:pPr>
              <a:spcAft>
                <a:spcPts val="700"/>
              </a:spcAft>
              <a:defRPr sz="2200" b="0">
                <a:solidFill>
                  <a:srgbClr val="F5F8FC"/>
                </a:solidFill>
                <a:latin typeface="Consolas"/>
              </a:defRPr>
            </a:pPr>
            <a:r>
              <a:t>  ↓ + Ethernet header/FCS → frame</a:t>
            </a:r>
          </a:p>
          <a:p>
            <a:pPr>
              <a:spcAft>
                <a:spcPts val="700"/>
              </a:spcAft>
              <a:defRPr sz="2200" b="0">
                <a:solidFill>
                  <a:srgbClr val="F5F8FC"/>
                </a:solidFill>
                <a:latin typeface="Consolas"/>
              </a:defRPr>
            </a:pPr>
            <a:r>
              <a:t>  ↓ tín hiệu            → bit trên dây/sóng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06440"/>
            <a:ext cx="10881360" cy="4297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FC156"/>
                </a:solidFill>
                <a:latin typeface="Aptos"/>
              </a:defRPr>
            </a:pPr>
            <a:r>
              <a:t>Một lần send() không nhất thiết tương ứng một packet.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256032"/>
            <a:ext cx="4572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ED3D1"/>
                </a:solidFill>
                <a:latin typeface="Aptos"/>
              </a:defRPr>
            </a:pPr>
            <a:r>
              <a:t>GÓI TIN / DATA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03504"/>
            <a:ext cx="1120140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Interface ≠ trường phân kênh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6501384"/>
            <a:ext cx="11201400" cy="12801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8BACD"/>
                </a:solidFill>
                <a:latin typeface="Aptos"/>
              </a:defRPr>
            </a:pPr>
            <a:r>
              <a:t>OSI • TCP/IP • đường đi gói tin • NAT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029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A8BAC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89888"/>
            <a:ext cx="11201400" cy="429768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45920"/>
            <a:ext cx="10652760" cy="3840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5F8FC"/>
                </a:solidFill>
                <a:latin typeface="Consolas"/>
              </a:defRPr>
            </a:pPr>
            <a:r>
              <a:t>App  ── Socket API ──&gt; TCP/UDP</a:t>
            </a:r>
          </a:p>
          <a:p>
            <a:pPr>
              <a:spcAft>
                <a:spcPts val="700"/>
              </a:spcAft>
              <a:defRPr sz="2000" b="0">
                <a:solidFill>
                  <a:srgbClr val="F5F8FC"/>
                </a:solidFill>
                <a:latin typeface="Consolas"/>
              </a:defRPr>
            </a:pPr>
            <a:r>
              <a:t>TCP/UDP ── IP Protocol/Next Header ──&gt; IP</a:t>
            </a:r>
          </a:p>
          <a:p>
            <a:pPr>
              <a:spcAft>
                <a:spcPts val="700"/>
              </a:spcAft>
              <a:defRPr sz="2000" b="0">
                <a:solidFill>
                  <a:srgbClr val="F5F8FC"/>
                </a:solidFill>
                <a:latin typeface="Consolas"/>
              </a:defRPr>
            </a:pPr>
            <a:r>
              <a:t>IP ── EtherType (trên Ethernet) ──&gt; Link</a:t>
            </a:r>
          </a:p>
          <a:p>
            <a:pPr>
              <a:spcAft>
                <a:spcPts val="700"/>
              </a:spcAft>
              <a:defRPr sz="2000" b="0">
                <a:solidFill>
                  <a:srgbClr val="F5F8FC"/>
                </a:solidFill>
                <a:latin typeface="Consolas"/>
              </a:defRPr>
            </a:pPr>
            <a:r>
              <a:t>Link ── MAC/PHY + driver ──&gt; tín hiệu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06440"/>
            <a:ext cx="10881360" cy="4297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FC156"/>
                </a:solidFill>
                <a:latin typeface="Aptos"/>
              </a:defRPr>
            </a:pPr>
            <a:r>
              <a:t>Socket API là interface; Protocol, EtherType, port là trường để phân luồng khi nhận.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256032"/>
            <a:ext cx="4572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ED3D1"/>
                </a:solidFill>
                <a:latin typeface="Aptos"/>
              </a:defRPr>
            </a:pPr>
            <a:r>
              <a:t>INTERFACE GIỮA CÁC TẦNG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03504"/>
            <a:ext cx="1120140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Chiều nhận: tìm đúng bộ xử lý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6501384"/>
            <a:ext cx="11201400" cy="12801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8BACD"/>
                </a:solidFill>
                <a:latin typeface="Aptos"/>
              </a:defRPr>
            </a:pPr>
            <a:r>
              <a:t>OSI • TCP/IP • đường đi gói tin • NAT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029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A8BACD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" y="1399032"/>
            <a:ext cx="2523744" cy="621792"/>
          </a:xfrm>
          <a:prstGeom prst="round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1517904"/>
            <a:ext cx="2404872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3ED3D1"/>
                </a:solidFill>
                <a:latin typeface="Aptos"/>
              </a:defRPr>
            </a:pPr>
            <a:r>
              <a:t>Trường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44952" y="1399032"/>
            <a:ext cx="3072384" cy="621792"/>
          </a:xfrm>
          <a:prstGeom prst="round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45536" y="1517904"/>
            <a:ext cx="2953512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3ED3D1"/>
                </a:solidFill>
                <a:latin typeface="Aptos"/>
              </a:defRPr>
            </a:pPr>
            <a:r>
              <a:t>Giá trị ví dụ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1399032"/>
            <a:ext cx="5449824" cy="621792"/>
          </a:xfrm>
          <a:prstGeom prst="round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4496" y="1517904"/>
            <a:ext cx="5330952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3ED3D1"/>
                </a:solidFill>
                <a:latin typeface="Aptos"/>
              </a:defRPr>
            </a:pPr>
            <a:r>
              <a:t>Giao cho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2020824"/>
            <a:ext cx="252374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2093976"/>
            <a:ext cx="238658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EtherType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44952" y="2020824"/>
            <a:ext cx="307238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45536" y="2093976"/>
            <a:ext cx="293522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0x0800 / 0x86DD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2020824"/>
            <a:ext cx="544982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4496" y="2093976"/>
            <a:ext cx="531266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IPv4 / IPv6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" y="2642616"/>
            <a:ext cx="252374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" y="2715768"/>
            <a:ext cx="238658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IPv4 Protocol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44952" y="2642616"/>
            <a:ext cx="307238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45536" y="2715768"/>
            <a:ext cx="293522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6 / 17 / 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2642616"/>
            <a:ext cx="544982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54496" y="2715768"/>
            <a:ext cx="531266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TCP / UDP / ICMPv4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" y="3264408"/>
            <a:ext cx="252374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" y="3337560"/>
            <a:ext cx="238658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TCP/UDP dst port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44952" y="3264408"/>
            <a:ext cx="307238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45536" y="3337560"/>
            <a:ext cx="293522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443 / 53 / 1883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53912" y="3264408"/>
            <a:ext cx="544982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54496" y="3337560"/>
            <a:ext cx="531266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Endpoint/socket phù hợp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4632" y="3886200"/>
            <a:ext cx="252374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" y="3959352"/>
            <a:ext cx="238658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TCP 5-tuple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44952" y="3886200"/>
            <a:ext cx="307238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45536" y="3959352"/>
            <a:ext cx="293522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Protocol + 2 IP + 2 port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3912" y="3886200"/>
            <a:ext cx="544982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54496" y="3959352"/>
            <a:ext cx="531266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Connected socket cụ thể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256032"/>
            <a:ext cx="4572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ED3D1"/>
                </a:solidFill>
                <a:latin typeface="Aptos"/>
              </a:defRPr>
            </a:pPr>
            <a:r>
              <a:t>GÓI TIN / DATA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03504"/>
            <a:ext cx="1120140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Từ connect() và send() xuống NIC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6501384"/>
            <a:ext cx="11201400" cy="12801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8BACD"/>
                </a:solidFill>
                <a:latin typeface="Aptos"/>
              </a:defRPr>
            </a:pPr>
            <a:r>
              <a:t>OSI • TCP/IP • đường đi gói tin • NAT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029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A8BAC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89888"/>
            <a:ext cx="11201400" cy="429768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45920"/>
            <a:ext cx="10652760" cy="3840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5F8FC"/>
                </a:solidFill>
                <a:latin typeface="Consolas"/>
              </a:defRPr>
            </a:pPr>
            <a:r>
              <a:t>App:     socket() → connect() → send()</a:t>
            </a:r>
          </a:p>
          <a:p>
            <a:pPr>
              <a:spcAft>
                <a:spcPts val="700"/>
              </a:spcAft>
              <a:defRPr sz="1900" b="0">
                <a:solidFill>
                  <a:srgbClr val="F5F8FC"/>
                </a:solidFill>
                <a:latin typeface="Consolas"/>
              </a:defRPr>
            </a:pPr>
            <a:r>
              <a:t>TCP:     chọn port nguồn, state, seq, buffer</a:t>
            </a:r>
          </a:p>
          <a:p>
            <a:pPr>
              <a:spcAft>
                <a:spcPts val="700"/>
              </a:spcAft>
              <a:defRPr sz="1900" b="0">
                <a:solidFill>
                  <a:srgbClr val="F5F8FC"/>
                </a:solidFill>
                <a:latin typeface="Consolas"/>
              </a:defRPr>
            </a:pPr>
            <a:r>
              <a:t>IP:      chọn IP nguồn, route, next hop</a:t>
            </a:r>
          </a:p>
          <a:p>
            <a:pPr>
              <a:spcAft>
                <a:spcPts val="700"/>
              </a:spcAft>
              <a:defRPr sz="1900" b="0">
                <a:solidFill>
                  <a:srgbClr val="F5F8FC"/>
                </a:solidFill>
                <a:latin typeface="Consolas"/>
              </a:defRPr>
            </a:pPr>
            <a:r>
              <a:t>Neighbor: IP next hop → MAC</a:t>
            </a:r>
          </a:p>
          <a:p>
            <a:pPr>
              <a:spcAft>
                <a:spcPts val="700"/>
              </a:spcAft>
              <a:defRPr sz="1900" b="0">
                <a:solidFill>
                  <a:srgbClr val="F5F8FC"/>
                </a:solidFill>
                <a:latin typeface="Consolas"/>
              </a:defRPr>
            </a:pPr>
            <a:r>
              <a:t>Link:    thêm frame; driver → TX ring → NIC/PHY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06440"/>
            <a:ext cx="10881360" cy="4297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FC156"/>
                </a:solidFill>
                <a:latin typeface="Aptos"/>
              </a:defRPr>
            </a:pPr>
            <a:r>
              <a:t>Offload của NIC có thể thay đổi thời điểm chia segment và tính checksum.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256032"/>
            <a:ext cx="4572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ED3D1"/>
                </a:solidFill>
                <a:latin typeface="Aptos"/>
              </a:defRPr>
            </a:pPr>
            <a:r>
              <a:t>DATA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03504"/>
            <a:ext cx="1120140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Header tối thiểu cần đọc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6501384"/>
            <a:ext cx="11201400" cy="12801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8BACD"/>
                </a:solidFill>
                <a:latin typeface="Aptos"/>
              </a:defRPr>
            </a:pPr>
            <a:r>
              <a:t>OSI • TCP/IP • đường đi gói tin • NAT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029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A8BAC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" y="1399032"/>
            <a:ext cx="2157984" cy="621792"/>
          </a:xfrm>
          <a:prstGeom prst="round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1517904"/>
            <a:ext cx="2039112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3ED3D1"/>
                </a:solidFill>
                <a:latin typeface="Aptos"/>
              </a:defRPr>
            </a:pPr>
            <a:r>
              <a:t>Định dạng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9191" y="1399032"/>
            <a:ext cx="6729984" cy="621792"/>
          </a:xfrm>
          <a:prstGeom prst="round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9775" y="1517904"/>
            <a:ext cx="6611112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3ED3D1"/>
                </a:solidFill>
                <a:latin typeface="Aptos"/>
              </a:defRPr>
            </a:pPr>
            <a:r>
              <a:t>Trường quan trọng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45752" y="1399032"/>
            <a:ext cx="2157984" cy="621792"/>
          </a:xfrm>
          <a:prstGeom prst="round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46336" y="1517904"/>
            <a:ext cx="2039112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3ED3D1"/>
                </a:solidFill>
                <a:latin typeface="Aptos"/>
              </a:defRPr>
            </a:pPr>
            <a:r>
              <a:t>Kích thước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2020824"/>
            <a:ext cx="215798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2093976"/>
            <a:ext cx="202082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Ethernet II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79191" y="2020824"/>
            <a:ext cx="672998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9775" y="2093976"/>
            <a:ext cx="659282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dst MAC, src MAC, EtherType; FCS sau payload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45752" y="2020824"/>
            <a:ext cx="215798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46336" y="2093976"/>
            <a:ext cx="202082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14 B + 4 B FCS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" y="2642616"/>
            <a:ext cx="215798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" y="2715768"/>
            <a:ext cx="202082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IPv4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79191" y="2642616"/>
            <a:ext cx="672998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79775" y="2715768"/>
            <a:ext cx="659282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src/dst IP, TTL, Protocol, checksum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45752" y="2642616"/>
            <a:ext cx="215798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46336" y="2715768"/>
            <a:ext cx="202082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20 B + options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" y="3264408"/>
            <a:ext cx="215798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" y="3337560"/>
            <a:ext cx="202082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TCP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79191" y="3264408"/>
            <a:ext cx="672998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79775" y="3337560"/>
            <a:ext cx="659282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ports, seq, ack, flags, window, checksum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45752" y="3264408"/>
            <a:ext cx="215798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337560"/>
            <a:ext cx="202082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20 B + options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4632" y="3886200"/>
            <a:ext cx="215798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" y="3959352"/>
            <a:ext cx="202082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UDP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79191" y="3886200"/>
            <a:ext cx="672998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79775" y="3959352"/>
            <a:ext cx="659282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ports, length, checksum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45752" y="3886200"/>
            <a:ext cx="215798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46336" y="3959352"/>
            <a:ext cx="202082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8 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" y="4507992"/>
            <a:ext cx="215798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" y="4581144"/>
            <a:ext cx="202082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ARP IPv4/Ethernet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79191" y="4507992"/>
            <a:ext cx="672998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79775" y="4581144"/>
            <a:ext cx="659282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opcode, sender/target MAC+IP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45752" y="4507992"/>
            <a:ext cx="215798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46336" y="4581144"/>
            <a:ext cx="202082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28 B thông thường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256032"/>
            <a:ext cx="4572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ED3D1"/>
                </a:solidFill>
                <a:latin typeface="Aptos"/>
              </a:defRPr>
            </a:pPr>
            <a:r>
              <a:t>DATA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03504"/>
            <a:ext cx="1120140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Cấu trúc dữ liệu của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6501384"/>
            <a:ext cx="11201400" cy="12801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8BACD"/>
                </a:solidFill>
                <a:latin typeface="Aptos"/>
              </a:defRPr>
            </a:pPr>
            <a:r>
              <a:t>OSI • TCP/IP • đường đi gói tin • NAT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029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A8BAC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36192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Packet buffer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Linux sk_buff; lwIP pbuf. Giữ bytes, headroom và metadata.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8483" y="1371600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1364" y="1536192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Socket / PCB / TCB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1364" y="2011680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5-tuple, state TCP, seq/ack, window, timer, buffer.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50208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FIB + neighbor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90288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Prefix → next hop/interface; next-hop IP → MAC.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8483" y="3950208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1364" y="4114800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Switch FDB + NAT 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1364" y="4590288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MAC → cổng switch; mapping IP:port và trạng thái NAT.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256032"/>
            <a:ext cx="4572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ED3D1"/>
                </a:solidFill>
                <a:latin typeface="Aptos"/>
              </a:defRPr>
            </a:pPr>
            <a:r>
              <a:t>TẦNG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03504"/>
            <a:ext cx="1120140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Ethernet, switch và ARP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6501384"/>
            <a:ext cx="11201400" cy="12801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8BACD"/>
                </a:solidFill>
                <a:latin typeface="Aptos"/>
              </a:defRPr>
            </a:pPr>
            <a:r>
              <a:t>OSI • TCP/IP • đường đi gói tin • NAT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029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A8BACD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36192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Frame Ethernet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MAC đích | MAC nguồn | EtherType | payload | FCS. VLAN tag thêm 4 byte.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8483" y="1371600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1364" y="1536192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Switch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1364" y="2011680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Học MAC nguồn → cổng; forward theo MAC đích; flood khi chưa biết.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50208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ARP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90288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IPv4 next hop → MAC trên cùng liên kết. Khác subnet: ARP gateway.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8483" y="3950208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1364" y="4114800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VLAN / STP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1364" y="4590288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VLAN chia miền broadcast; STP giảm vòng lặp L2.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256032"/>
            <a:ext cx="4572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ED3D1"/>
                </a:solidFill>
                <a:latin typeface="Aptos"/>
              </a:defRPr>
            </a:pPr>
            <a:r>
              <a:t>TẦNG 1–2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03504"/>
            <a:ext cx="1120140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Chuẩn Ethernet: chọn đúng media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6501384"/>
            <a:ext cx="11201400" cy="12801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8BACD"/>
                </a:solidFill>
                <a:latin typeface="Aptos"/>
              </a:defRPr>
            </a:pPr>
            <a:r>
              <a:t>OSI • TCP/IP • đường đi gói tin • NAT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029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A8BACD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" y="1399032"/>
            <a:ext cx="3621024" cy="621792"/>
          </a:xfrm>
          <a:prstGeom prst="round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1517904"/>
            <a:ext cx="3502152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3ED3D1"/>
                </a:solidFill>
                <a:latin typeface="Aptos"/>
              </a:defRPr>
            </a:pPr>
            <a:r>
              <a:t>Chuẩn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42232" y="1399032"/>
            <a:ext cx="2843784" cy="621792"/>
          </a:xfrm>
          <a:prstGeom prst="round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42816" y="1517904"/>
            <a:ext cx="2724912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3ED3D1"/>
                </a:solidFill>
                <a:latin typeface="Aptos"/>
              </a:defRPr>
            </a:pPr>
            <a:r>
              <a:t>Tốc độ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22592" y="1399032"/>
            <a:ext cx="4581144" cy="621792"/>
          </a:xfrm>
          <a:prstGeom prst="round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23176" y="1517904"/>
            <a:ext cx="4462272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3ED3D1"/>
                </a:solidFill>
                <a:latin typeface="Aptos"/>
              </a:defRPr>
            </a:pPr>
            <a:r>
              <a:t>Môi trường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2020824"/>
            <a:ext cx="362102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2093976"/>
            <a:ext cx="348386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10/100/1000BASE-T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42232" y="2020824"/>
            <a:ext cx="284378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42816" y="2093976"/>
            <a:ext cx="270662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10/100/1000 Mb/s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22592" y="2020824"/>
            <a:ext cx="458114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23176" y="2093976"/>
            <a:ext cx="4443983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Cáp xoắn đôi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" y="2642616"/>
            <a:ext cx="362102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" y="2715768"/>
            <a:ext cx="348386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2.5/5/10GBASE-T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42232" y="2642616"/>
            <a:ext cx="284378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42816" y="2715768"/>
            <a:ext cx="270662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2.5/5/10 Gb/s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22592" y="2642616"/>
            <a:ext cx="458114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23176" y="2715768"/>
            <a:ext cx="4443983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Cáp xoắn đôi phù hợp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" y="3264408"/>
            <a:ext cx="362102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" y="3337560"/>
            <a:ext cx="348386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1000BASE-SX/LX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42232" y="3264408"/>
            <a:ext cx="284378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42816" y="3337560"/>
            <a:ext cx="270662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1 Gb/s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22592" y="3264408"/>
            <a:ext cx="458114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23176" y="3337560"/>
            <a:ext cx="4443983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Quang đa/đơn mode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4632" y="3886200"/>
            <a:ext cx="362102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" y="3959352"/>
            <a:ext cx="348386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100/1000BASE-T1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42232" y="3886200"/>
            <a:ext cx="284378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2816" y="3959352"/>
            <a:ext cx="270662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100 Mb/s / 1 Gb/s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22592" y="3886200"/>
            <a:ext cx="458114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23176" y="3959352"/>
            <a:ext cx="4443983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Một đôi dây, automotive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" y="4507992"/>
            <a:ext cx="362102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" y="4581144"/>
            <a:ext cx="348386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10BASE-T1L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42232" y="4507992"/>
            <a:ext cx="284378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42816" y="4581144"/>
            <a:ext cx="270662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10 Mb/s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022592" y="4507992"/>
            <a:ext cx="458114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23176" y="4581144"/>
            <a:ext cx="4443983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Single Pair Ethernet đường dài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256032"/>
            <a:ext cx="4572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ED3D1"/>
                </a:solidFill>
                <a:latin typeface="Aptos"/>
              </a:defRPr>
            </a:pPr>
            <a:r>
              <a:t>TẦNG 1–2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03504"/>
            <a:ext cx="1120140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MAC, PHY và Wi-Fi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6501384"/>
            <a:ext cx="11201400" cy="12801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8BACD"/>
                </a:solidFill>
                <a:latin typeface="Aptos"/>
              </a:defRPr>
            </a:pPr>
            <a:r>
              <a:t>OSI • TCP/IP • đường đi gói tin • NAT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029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A8BACD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36192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Ethernet MCU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MAC trong MCU ↔ RMII/RGMII ↔ PHY; MDIO quản lý PHY.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8483" y="1371600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1364" y="1536192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Wi-Fi chip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1364" y="2011680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MAC + radio PHY; host kết nối qua SDIO/SPI/USB/PCIe.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50208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802.11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90288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Scan → authenticate → associate; CSMA/CA; WPA2/WPA3.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8483" y="3950208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1364" y="4114800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Wi-Fi 4/5/6/7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1364" y="4590288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802.11n/ac/ax/be; tốc độ PHY lý thuyết ≠ tốc độ ứng dụng.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256032"/>
            <a:ext cx="4572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ED3D1"/>
                </a:solidFill>
                <a:latin typeface="Aptos"/>
              </a:defRPr>
            </a:pPr>
            <a:r>
              <a:t>TẦNG 1–2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03504"/>
            <a:ext cx="1120140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Các link khác trong embedded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6501384"/>
            <a:ext cx="11201400" cy="12801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8BACD"/>
                </a:solidFill>
                <a:latin typeface="Aptos"/>
              </a:defRPr>
            </a:pPr>
            <a:r>
              <a:t>OSI • TCP/IP • đường đi gói tin • NAT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029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A8BACD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36192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BLE / 802.15.4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BLE có stack riêng. Thread chạy IPv6/6LoWPAN trên 802.15.4.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8483" y="1371600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1364" y="1536192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Zigbee / Z-Wave / LoRaWAN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1364" y="2011680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Các mạng/giao thức công suất thấp; không tự động là Ethernet hay IP.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50208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Cellular / PPP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90288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Modem 4G/5G hoặc LTE-M/NB-IoT có thể cấp đường IP; PPP là liên kết L2.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8483" y="3950208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1364" y="4114800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CAN / RS-485 / UART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1364" y="4590288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CAN có frame/bus; RS-485 là chuẩn điện; UART là giao diện nối tiếp.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256032"/>
            <a:ext cx="4572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ED3D1"/>
                </a:solidFill>
                <a:latin typeface="Aptos"/>
              </a:defRPr>
            </a:pPr>
            <a:r>
              <a:t>TẦNG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03504"/>
            <a:ext cx="1120140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CIDR: gửi trực tiếp hay qua gateway?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6501384"/>
            <a:ext cx="11201400" cy="12801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8BACD"/>
                </a:solidFill>
                <a:latin typeface="Aptos"/>
              </a:defRPr>
            </a:pPr>
            <a:r>
              <a:t>OSI • TCP/IP • đường đi gói tin • NAT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029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A8BACD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89888"/>
            <a:ext cx="11201400" cy="429768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45920"/>
            <a:ext cx="10652760" cy="3840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5F8FC"/>
                </a:solidFill>
                <a:latin typeface="Consolas"/>
              </a:defRPr>
            </a:pPr>
            <a:r>
              <a:t>A: 192.168.1.10/24   mask 255.255.255.0</a:t>
            </a:r>
          </a:p>
          <a:p>
            <a:pPr>
              <a:spcAft>
                <a:spcPts val="700"/>
              </a:spcAft>
              <a:defRPr sz="2000" b="0">
                <a:solidFill>
                  <a:srgbClr val="F5F8FC"/>
                </a:solidFill>
                <a:latin typeface="Consolas"/>
              </a:defRPr>
            </a:pPr>
            <a:r>
              <a:t>B: 198.51.100.20</a:t>
            </a:r>
          </a:p>
          <a:p>
            <a:pPr>
              <a:spcAft>
                <a:spcPts val="700"/>
              </a:spcAft>
              <a:defRPr sz="2000" b="0">
                <a:solidFill>
                  <a:srgbClr val="F5F8FC"/>
                </a:solidFill>
                <a:latin typeface="Consolas"/>
              </a:defRPr>
            </a:pPr>
            <a:r>
              <a:t>A &amp; mask = 192.168.1.0</a:t>
            </a:r>
          </a:p>
          <a:p>
            <a:pPr>
              <a:spcAft>
                <a:spcPts val="700"/>
              </a:spcAft>
              <a:defRPr sz="2000" b="0">
                <a:solidFill>
                  <a:srgbClr val="F5F8FC"/>
                </a:solidFill>
                <a:latin typeface="Consolas"/>
              </a:defRPr>
            </a:pPr>
            <a:r>
              <a:t>B &amp; mask = 198.51.100.0</a:t>
            </a:r>
          </a:p>
          <a:p>
            <a:pPr>
              <a:spcAft>
                <a:spcPts val="700"/>
              </a:spcAft>
              <a:defRPr sz="2000" b="0">
                <a:solidFill>
                  <a:srgbClr val="F5F8FC"/>
                </a:solidFill>
                <a:latin typeface="Consolas"/>
              </a:defRPr>
            </a:pPr>
            <a:r>
              <a:t>Khác mạng → route mặc định qua 192.168.1.1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06440"/>
            <a:ext cx="10881360" cy="4297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FC156"/>
                </a:solidFill>
                <a:latin typeface="Aptos"/>
              </a:defRPr>
            </a:pPr>
            <a:r>
              <a:t>Máy có nhiều route chọn prefix khớp dài nhất.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256032"/>
            <a:ext cx="4572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ED3D1"/>
                </a:solidFill>
                <a:latin typeface="Aptos"/>
              </a:defRPr>
            </a:pPr>
            <a:r>
              <a:t>TẦNG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03504"/>
            <a:ext cx="1120140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Router làm gì ở mỗi chặng?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6501384"/>
            <a:ext cx="11201400" cy="12801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8BACD"/>
                </a:solidFill>
                <a:latin typeface="Aptos"/>
              </a:defRPr>
            </a:pPr>
            <a:r>
              <a:t>OSI • TCP/IP • đường đi gói tin • NAT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029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A8BACD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89888"/>
            <a:ext cx="11201400" cy="429768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45920"/>
            <a:ext cx="10652760" cy="3840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F5F8FC"/>
                </a:solidFill>
                <a:latin typeface="Consolas"/>
              </a:defRPr>
            </a:pPr>
            <a:r>
              <a:t>Nhận frame → lấy IP packet</a:t>
            </a:r>
          </a:p>
          <a:p>
            <a:pPr>
              <a:spcAft>
                <a:spcPts val="700"/>
              </a:spcAft>
              <a:defRPr sz="2000" b="0">
                <a:solidFill>
                  <a:srgbClr val="F5F8FC"/>
                </a:solidFill>
                <a:latin typeface="Consolas"/>
              </a:defRPr>
            </a:pPr>
            <a:r>
              <a:t>Đọc IP đích → tra FIB (longest prefix match)</a:t>
            </a:r>
          </a:p>
          <a:p>
            <a:pPr>
              <a:spcAft>
                <a:spcPts val="700"/>
              </a:spcAft>
              <a:defRPr sz="2000" b="0">
                <a:solidFill>
                  <a:srgbClr val="F5F8FC"/>
                </a:solidFill>
                <a:latin typeface="Consolas"/>
              </a:defRPr>
            </a:pPr>
            <a:r>
              <a:t>Giảm TTL IPv4 / Hop Limit IPv6</a:t>
            </a:r>
          </a:p>
          <a:p>
            <a:pPr>
              <a:spcAft>
                <a:spcPts val="700"/>
              </a:spcAft>
              <a:defRPr sz="2000" b="0">
                <a:solidFill>
                  <a:srgbClr val="F5F8FC"/>
                </a:solidFill>
                <a:latin typeface="Consolas"/>
              </a:defRPr>
            </a:pPr>
            <a:r>
              <a:t>Cập nhật IPv4 header checksum</a:t>
            </a:r>
          </a:p>
          <a:p>
            <a:pPr>
              <a:spcAft>
                <a:spcPts val="700"/>
              </a:spcAft>
              <a:defRPr sz="2000" b="0">
                <a:solidFill>
                  <a:srgbClr val="F5F8FC"/>
                </a:solidFill>
                <a:latin typeface="Consolas"/>
              </a:defRPr>
            </a:pPr>
            <a:r>
              <a:t>Tìm link next hop → đóng frame mới → gửi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06440"/>
            <a:ext cx="10881360" cy="4297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FC156"/>
                </a:solidFill>
                <a:latin typeface="Aptos"/>
              </a:defRPr>
            </a:pPr>
            <a:r>
              <a:t>Switch L2 không giảm TTL; NAT là chức năng bổ sung.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256032"/>
            <a:ext cx="4572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ED3D1"/>
                </a:solidFill>
                <a:latin typeface="Aptos"/>
              </a:defRPr>
            </a:pPr>
            <a:r>
              <a:t>HÀNH TRÌNH GÓI 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03504"/>
            <a:ext cx="1120140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Theo dõi gói A → server qua NAT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6501384"/>
            <a:ext cx="11201400" cy="12801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8BACD"/>
                </a:solidFill>
                <a:latin typeface="Aptos"/>
              </a:defRPr>
            </a:pPr>
            <a:r>
              <a:t>OSI • TCP/IP • đường đi gói tin • NAT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029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A8BACD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" y="1399032"/>
            <a:ext cx="1289304" cy="621792"/>
          </a:xfrm>
          <a:prstGeom prst="round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1517904"/>
            <a:ext cx="1170432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ED3D1"/>
                </a:solidFill>
                <a:latin typeface="Aptos"/>
              </a:defRPr>
            </a:pPr>
            <a:r>
              <a:t>Vị trí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10512" y="1399032"/>
            <a:ext cx="1956816" cy="621792"/>
          </a:xfrm>
          <a:prstGeom prst="round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11095" y="1517904"/>
            <a:ext cx="1837944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ED3D1"/>
                </a:solidFill>
                <a:latin typeface="Aptos"/>
              </a:defRPr>
            </a:pPr>
            <a:r>
              <a:t>MAC đích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1399032"/>
            <a:ext cx="3163824" cy="621792"/>
          </a:xfrm>
          <a:prstGeom prst="round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4488" y="1517904"/>
            <a:ext cx="3044952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ED3D1"/>
                </a:solidFill>
                <a:latin typeface="Aptos"/>
              </a:defRPr>
            </a:pPr>
            <a:r>
              <a:t>IP:port nguồn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04304" y="1399032"/>
            <a:ext cx="3163824" cy="621792"/>
          </a:xfrm>
          <a:prstGeom prst="round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04888" y="1517904"/>
            <a:ext cx="3044952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ED3D1"/>
                </a:solidFill>
                <a:latin typeface="Aptos"/>
              </a:defRPr>
            </a:pPr>
            <a:r>
              <a:t>IP:port đích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04704" y="1399032"/>
            <a:ext cx="1399032" cy="621792"/>
          </a:xfrm>
          <a:prstGeom prst="round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05288" y="1517904"/>
            <a:ext cx="1280160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ED3D1"/>
                </a:solidFill>
                <a:latin typeface="Aptos"/>
              </a:defRPr>
            </a:pPr>
            <a:r>
              <a:t>TTL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" y="2020824"/>
            <a:ext cx="128930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2093976"/>
            <a:ext cx="115214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LAN 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10512" y="2020824"/>
            <a:ext cx="1956816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11095" y="2093976"/>
            <a:ext cx="1819656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Gateway LAN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03904" y="2020824"/>
            <a:ext cx="316382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04488" y="2093976"/>
            <a:ext cx="302666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192.168.1.10:51514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04304" y="2020824"/>
            <a:ext cx="316382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04888" y="2093976"/>
            <a:ext cx="302666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198.51.100.20:443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04704" y="2020824"/>
            <a:ext cx="1399032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05288" y="2093976"/>
            <a:ext cx="1261872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64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4632" y="2642616"/>
            <a:ext cx="128930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" y="2715768"/>
            <a:ext cx="115214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Sau NAT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10512" y="2642616"/>
            <a:ext cx="1956816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11095" y="2715768"/>
            <a:ext cx="1819656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Next hop WAN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03904" y="2642616"/>
            <a:ext cx="316382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04488" y="2715768"/>
            <a:ext cx="302666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203.0.113.10:62001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04304" y="2642616"/>
            <a:ext cx="316382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04888" y="2715768"/>
            <a:ext cx="302666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198.51.100.20:443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04704" y="2642616"/>
            <a:ext cx="1399032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05288" y="2715768"/>
            <a:ext cx="1261872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63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" y="3264408"/>
            <a:ext cx="128930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" y="3337560"/>
            <a:ext cx="115214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Gần server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10512" y="3264408"/>
            <a:ext cx="1956816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11095" y="3337560"/>
            <a:ext cx="1819656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Server 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03904" y="3264408"/>
            <a:ext cx="316382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04488" y="3337560"/>
            <a:ext cx="302666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203.0.113.10:62001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004304" y="3264408"/>
            <a:ext cx="316382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04888" y="3337560"/>
            <a:ext cx="302666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198.51.100.20:443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204704" y="3264408"/>
            <a:ext cx="1399032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05288" y="3337560"/>
            <a:ext cx="1261872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8FC"/>
                </a:solidFill>
                <a:latin typeface="Aptos"/>
              </a:defRPr>
            </a:pPr>
            <a:r>
              <a:t>&lt;63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256032"/>
            <a:ext cx="4572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ED3D1"/>
                </a:solidFill>
                <a:latin typeface="Aptos"/>
              </a:defRPr>
            </a:pPr>
            <a:r>
              <a:t>TẦNG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03504"/>
            <a:ext cx="1120140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TTL, ICMP và MTU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6501384"/>
            <a:ext cx="11201400" cy="12801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8BACD"/>
                </a:solidFill>
                <a:latin typeface="Aptos"/>
              </a:defRPr>
            </a:pPr>
            <a:r>
              <a:t>OSI • TCP/IP • đường đi gói tin • NAT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029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A8BACD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36192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TTL / Hop Limit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Mỗi router giảm 1; hết giá trị thì bỏ packet. Traceroute tận dụng ICMP Time Exceeded.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8483" y="1371600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1364" y="1536192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Path MTU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1364" y="2011680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Link có MTU nhỏ nhất giới hạn packet; IPv4 DF + ICMP báo cần giảm kích thước.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50208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IPv6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90288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Router không phân mảnh; gửi ICMPv6 Packet Too Big cho nguồn.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8483" y="3950208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1364" y="4114800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Chẩn đoán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1364" y="4590288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C"/>
                </a:solidFill>
                <a:latin typeface="Aptos"/>
              </a:defRPr>
            </a:pPr>
            <a:r>
              <a:t>Một hop traceroute im lặng có thể do chặn probe; chưa đủ kết luận đường đứt.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256032"/>
            <a:ext cx="4572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ED3D1"/>
                </a:solidFill>
                <a:latin typeface="Aptos"/>
              </a:defRPr>
            </a:pPr>
            <a:r>
              <a:t>TẦNG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03504"/>
            <a:ext cx="1120140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Transport: TCP, UDP, QUIC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6501384"/>
            <a:ext cx="11201400" cy="12801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8BACD"/>
                </a:solidFill>
                <a:latin typeface="Aptos"/>
              </a:defRPr>
            </a:pPr>
            <a:r>
              <a:t>OSI • TCP/IP • đường đi gói tin • NAT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029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A8BACD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" y="1399032"/>
            <a:ext cx="2112264" cy="621792"/>
          </a:xfrm>
          <a:prstGeom prst="round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1517904"/>
            <a:ext cx="1993392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3ED3D1"/>
                </a:solidFill>
                <a:latin typeface="Aptos"/>
              </a:defRPr>
            </a:pPr>
            <a:r>
              <a:t>Thuộc tính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33472" y="1399032"/>
            <a:ext cx="2798064" cy="621792"/>
          </a:xfrm>
          <a:prstGeom prst="round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34056" y="1517904"/>
            <a:ext cx="2679192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3ED3D1"/>
                </a:solidFill>
                <a:latin typeface="Aptos"/>
              </a:defRPr>
            </a:pPr>
            <a:r>
              <a:t>TCP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68112" y="1399032"/>
            <a:ext cx="2798064" cy="621792"/>
          </a:xfrm>
          <a:prstGeom prst="round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68696" y="1517904"/>
            <a:ext cx="2679192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3ED3D1"/>
                </a:solidFill>
                <a:latin typeface="Aptos"/>
              </a:defRPr>
            </a:pPr>
            <a:r>
              <a:t>UDP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1399032"/>
            <a:ext cx="3300984" cy="621792"/>
          </a:xfrm>
          <a:prstGeom prst="round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3336" y="1517904"/>
            <a:ext cx="3182112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3ED3D1"/>
                </a:solidFill>
                <a:latin typeface="Aptos"/>
              </a:defRPr>
            </a:pPr>
            <a:r>
              <a:t>QUIC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" y="2020824"/>
            <a:ext cx="211226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2093976"/>
            <a:ext cx="197510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Dữ liệu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33472" y="2020824"/>
            <a:ext cx="279806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34056" y="2093976"/>
            <a:ext cx="266090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Byte stream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68112" y="2020824"/>
            <a:ext cx="279806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68696" y="2093976"/>
            <a:ext cx="266090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Datagram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02752" y="2020824"/>
            <a:ext cx="330098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03336" y="2093976"/>
            <a:ext cx="316382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Streams trên UDP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" y="2642616"/>
            <a:ext cx="211226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" y="2715768"/>
            <a:ext cx="197510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Tin cậy/thứ tự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33472" y="2642616"/>
            <a:ext cx="279806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34056" y="2715768"/>
            <a:ext cx="266090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Do TCP cung cấp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68112" y="2642616"/>
            <a:ext cx="279806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68696" y="2715768"/>
            <a:ext cx="266090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Ứng dụng tự xử lý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02752" y="2642616"/>
            <a:ext cx="330098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03336" y="2715768"/>
            <a:ext cx="316382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QUIC cung cấp cho stream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4632" y="3264408"/>
            <a:ext cx="211226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" y="3337560"/>
            <a:ext cx="197510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Bắt tay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33472" y="3264408"/>
            <a:ext cx="279806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34056" y="3337560"/>
            <a:ext cx="266090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SYN/SYN-ACK/ACK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68112" y="3264408"/>
            <a:ext cx="279806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68696" y="3337560"/>
            <a:ext cx="266090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Không có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02752" y="3264408"/>
            <a:ext cx="330098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03336" y="3337560"/>
            <a:ext cx="316382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Tích hợp TLS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4632" y="3886200"/>
            <a:ext cx="211226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5216" y="3959352"/>
            <a:ext cx="197510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Ví dụ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33472" y="3886200"/>
            <a:ext cx="279806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34056" y="3959352"/>
            <a:ext cx="266090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SSH, MQTT, HTTP/2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68112" y="3886200"/>
            <a:ext cx="279806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68696" y="3959352"/>
            <a:ext cx="266090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DNS, DHCP, CoAP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02752" y="3886200"/>
            <a:ext cx="330098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03336" y="3959352"/>
            <a:ext cx="316382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HTTP/3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256032"/>
            <a:ext cx="4572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ED3D1"/>
                </a:solidFill>
                <a:latin typeface="Aptos"/>
              </a:defRPr>
            </a:pPr>
            <a:r>
              <a:t>TẦNG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03504"/>
            <a:ext cx="1120140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Port, socket và 5-tuple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6501384"/>
            <a:ext cx="11201400" cy="12801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8BACD"/>
                </a:solidFill>
                <a:latin typeface="Aptos"/>
              </a:defRPr>
            </a:pPr>
            <a:r>
              <a:t>OSI • TCP/IP • đường đi gói tin • NAT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029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A8BACD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36192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Định danh transport endpoint. IANA: 0–1023, 1024–49151, 49152–65535.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8483" y="1371600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1364" y="1536192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TCP connection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1364" y="2011680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(TCP, src IP, src port, dst IP, dst port) phân biệt các kết nối.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50208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Listening socket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90288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bind + listen ở server; accept tạo socket kết nối riêng.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8483" y="3950208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1364" y="4114800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Ephemeral 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1364" y="4590288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OS chọn port nguồn tạm thời; vùng thực tế có thể được cấu hình khác IANA.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256032"/>
            <a:ext cx="4572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ED3D1"/>
                </a:solidFill>
                <a:latin typeface="Aptos"/>
              </a:defRPr>
            </a:pPr>
            <a:r>
              <a:t>TẦNG 5–7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03504"/>
            <a:ext cx="1120140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Ứng dụng, dữ liệu và bảo mật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6501384"/>
            <a:ext cx="11201400" cy="12801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8BACD"/>
                </a:solidFill>
                <a:latin typeface="Aptos"/>
              </a:defRPr>
            </a:pPr>
            <a:r>
              <a:t>OSI • TCP/IP • đường đi gói tin • NAT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029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A8BACD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36192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HTTP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Request/response, method, status, header, cookie. HTTP/2 multiplex trên TCP.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8483" y="1371600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1364" y="1536192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TLS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1364" y="2011680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Xác thực certificate, thỏa thuận khóa và bảo vệ dữ liệu. HTTPS/TCP: TLS giữa HTTP và TCP.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50208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DNS / DHCP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90288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DNS phân giải tên; DHCP cấp cấu hình IP/GW/DNS trong mạng.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8483" y="3950208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1364" y="4114800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IoT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1364" y="4590288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MQTT qua TCP; CoAP thường qua UDP; HTTP/3 chạy trên QUIC/UDP.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256032"/>
            <a:ext cx="4572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ED3D1"/>
                </a:solidFill>
                <a:latin typeface="Aptos"/>
              </a:defRPr>
            </a:pPr>
            <a:r>
              <a:t>VÍ DỤ XUYÊN SUỐT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03504"/>
            <a:ext cx="1120140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Gõ https://example.com rồi Enter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6501384"/>
            <a:ext cx="11201400" cy="12801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8BACD"/>
                </a:solidFill>
                <a:latin typeface="Aptos"/>
              </a:defRPr>
            </a:pPr>
            <a:r>
              <a:t>OSI • TCP/IP • đường đi gói tin • NAT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029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A8BACD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89888"/>
            <a:ext cx="11201400" cy="429768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45920"/>
            <a:ext cx="10652760" cy="3840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F5F8FC"/>
                </a:solidFill>
                <a:latin typeface="Consolas"/>
              </a:defRPr>
            </a:pPr>
            <a:r>
              <a:t>DNS tên → IP (hoặc cache)</a:t>
            </a:r>
          </a:p>
          <a:p>
            <a:pPr>
              <a:spcAft>
                <a:spcPts val="700"/>
              </a:spcAft>
              <a:defRPr sz="1900" b="0">
                <a:solidFill>
                  <a:srgbClr val="F5F8FC"/>
                </a:solidFill>
                <a:latin typeface="Consolas"/>
              </a:defRPr>
            </a:pPr>
            <a:r>
              <a:t>Route → next hop; ARP tìm MAC gateway</a:t>
            </a:r>
          </a:p>
          <a:p>
            <a:pPr>
              <a:spcAft>
                <a:spcPts val="700"/>
              </a:spcAft>
              <a:defRPr sz="1900" b="0">
                <a:solidFill>
                  <a:srgbClr val="F5F8FC"/>
                </a:solidFill>
                <a:latin typeface="Consolas"/>
              </a:defRPr>
            </a:pPr>
            <a:r>
              <a:t>TCP handshake → TLS handshake</a:t>
            </a:r>
          </a:p>
          <a:p>
            <a:pPr>
              <a:spcAft>
                <a:spcPts val="700"/>
              </a:spcAft>
              <a:defRPr sz="1900" b="0">
                <a:solidFill>
                  <a:srgbClr val="F5F8FC"/>
                </a:solidFill>
                <a:latin typeface="Consolas"/>
              </a:defRPr>
            </a:pPr>
            <a:r>
              <a:t>HTTP request được gửi trong TLS</a:t>
            </a:r>
          </a:p>
          <a:p>
            <a:pPr>
              <a:spcAft>
                <a:spcPts val="700"/>
              </a:spcAft>
              <a:defRPr sz="1900" b="0">
                <a:solidFill>
                  <a:srgbClr val="F5F8FC"/>
                </a:solidFill>
                <a:latin typeface="Consolas"/>
              </a:defRPr>
            </a:pPr>
            <a:r>
              <a:t>TCP/IP/Link đóng gói → router/NAT → server</a:t>
            </a:r>
          </a:p>
          <a:p>
            <a:pPr>
              <a:spcAft>
                <a:spcPts val="700"/>
              </a:spcAft>
              <a:defRPr sz="1900" b="0">
                <a:solidFill>
                  <a:srgbClr val="F5F8FC"/>
                </a:solidFill>
                <a:latin typeface="Consolas"/>
              </a:defRPr>
            </a:pPr>
            <a:r>
              <a:t>Server giải đóng gói và trả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06440"/>
            <a:ext cx="10881360" cy="4297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FC156"/>
                </a:solidFill>
                <a:latin typeface="Aptos"/>
              </a:defRPr>
            </a:pPr>
            <a:r>
              <a:t>Đây là ví dụ HTTP/2 trên TCP/IPv4; HTTP/3 dùng QUIC/UDP.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256032"/>
            <a:ext cx="4572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ED3D1"/>
                </a:solidFill>
                <a:latin typeface="Aptos"/>
              </a:defRPr>
            </a:pPr>
            <a:r>
              <a:t>NAT / IP PUBLIC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03504"/>
            <a:ext cx="1120140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NAT/PAT và IP public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6501384"/>
            <a:ext cx="11201400" cy="12801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8BACD"/>
                </a:solidFill>
                <a:latin typeface="Aptos"/>
              </a:defRPr>
            </a:pPr>
            <a:r>
              <a:t>OSI • TCP/IP • đường đi gói tin • NAT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029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A8BACD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36192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Bên trong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192.168.1.10:51514 → 198.51.100.20:443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8483" y="1371600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1364" y="1536192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Bản ghi NAT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1364" y="2011680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192.168.1.10:51514 ↔ 203.0.113.10:62001; gắn trạng thái luồng.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50208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Server nhìn thấy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90288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203.0.113.10:62001, không thấy trực tiếp IP LAN của client.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8483" y="3950208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1364" y="4114800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CGNAT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1364" y="4590288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ISP chia một IP public cho nhiều thuê bao; WAN 100.64.0.0/10 là dấu hiệu thường gặp.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256032"/>
            <a:ext cx="4572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ED3D1"/>
                </a:solidFill>
                <a:latin typeface="Aptos"/>
              </a:defRPr>
            </a:pPr>
            <a:r>
              <a:t>NAT / KẾT NỐI NGƯỢC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03504"/>
            <a:ext cx="1120140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Server có kết nối ngược được không?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6501384"/>
            <a:ext cx="11201400" cy="12801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8BACD"/>
                </a:solidFill>
                <a:latin typeface="Aptos"/>
              </a:defRPr>
            </a:pPr>
            <a:r>
              <a:t>OSI • TCP/IP • đường đi gói tin • NAT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029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A8BACD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36192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Cùng kết nối: CÓ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TCP full duplex. Server gửi dữ liệu qua socket client đã mở; NAT có trạng thái.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8483" y="1371600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1364" y="1536192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Kết nối TCP mới: thường KHÔNG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1364" y="2011680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Cần service listen, route/NAT rule và firewall cho phép.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50208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Port nguồn cũ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90288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Ephemeral port trên client không tự thành cổng lắng nghe SYN mới.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8483" y="3950208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1364" y="4114800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Sau CGNAT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1364" y="4590288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Người dùng thường không cấu hình được NAT của ISP; IP public có thể dùng chung.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256032"/>
            <a:ext cx="4572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ED3D1"/>
                </a:solidFill>
                <a:latin typeface="Aptos"/>
              </a:defRPr>
            </a:pPr>
            <a:r>
              <a:t>NAT /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03504"/>
            <a:ext cx="1120140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Cách đưa lệnh cloud → thiết bị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6501384"/>
            <a:ext cx="11201400" cy="12801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8BACD"/>
                </a:solidFill>
                <a:latin typeface="Aptos"/>
              </a:defRPr>
            </a:pPr>
            <a:r>
              <a:t>OSI • TCP/IP • đường đi gói tin • NAT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029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A8BACD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" y="1399032"/>
            <a:ext cx="2523744" cy="621792"/>
          </a:xfrm>
          <a:prstGeom prst="round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1517904"/>
            <a:ext cx="2404872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3ED3D1"/>
                </a:solidFill>
                <a:latin typeface="Aptos"/>
              </a:defRPr>
            </a:pPr>
            <a:r>
              <a:t>Cách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44952" y="1399032"/>
            <a:ext cx="4169663" cy="621792"/>
          </a:xfrm>
          <a:prstGeom prst="round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45536" y="1517904"/>
            <a:ext cx="4050791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3ED3D1"/>
                </a:solidFill>
                <a:latin typeface="Aptos"/>
              </a:defRPr>
            </a:pPr>
            <a:r>
              <a:t>Cơ chế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51192" y="1399032"/>
            <a:ext cx="4352544" cy="621792"/>
          </a:xfrm>
          <a:prstGeom prst="round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51775" y="1517904"/>
            <a:ext cx="4233672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3ED3D1"/>
                </a:solidFill>
                <a:latin typeface="Aptos"/>
              </a:defRPr>
            </a:pPr>
            <a:r>
              <a:t>Điều kiện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2020824"/>
            <a:ext cx="252374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2093976"/>
            <a:ext cx="238658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MQTT/WebSocket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44952" y="2020824"/>
            <a:ext cx="4169663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45536" y="2093976"/>
            <a:ext cx="4032503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Client mở và giữ kết nối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51192" y="2020824"/>
            <a:ext cx="435254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51775" y="2093976"/>
            <a:ext cx="4215383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Heartbeat, reconnect, xác thực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" y="2642616"/>
            <a:ext cx="252374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" y="2715768"/>
            <a:ext cx="238658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Polling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44952" y="2642616"/>
            <a:ext cx="4169663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45536" y="2715768"/>
            <a:ext cx="4032503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Client hỏi việc định kỳ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51192" y="2642616"/>
            <a:ext cx="435254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51775" y="2715768"/>
            <a:ext cx="4215383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Chấp nhận độ trễ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" y="3264408"/>
            <a:ext cx="252374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" y="3337560"/>
            <a:ext cx="238658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Port forwarding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44952" y="3264408"/>
            <a:ext cx="4169663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45536" y="3337560"/>
            <a:ext cx="4032503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Chuyển WAN port → LAN host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51192" y="3264408"/>
            <a:ext cx="435254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51775" y="3337560"/>
            <a:ext cx="4215383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Inbound path + firewall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4632" y="3886200"/>
            <a:ext cx="252374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" y="3959352"/>
            <a:ext cx="238658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IPv6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44952" y="3886200"/>
            <a:ext cx="4169663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45536" y="3959352"/>
            <a:ext cx="4032503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Địa chỉ định tuyến toàn cầu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51192" y="3886200"/>
            <a:ext cx="435254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51775" y="3959352"/>
            <a:ext cx="4215383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Firewall cho phép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" y="4507992"/>
            <a:ext cx="252374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" y="4581144"/>
            <a:ext cx="238658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Tunnel / VPN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44952" y="4507992"/>
            <a:ext cx="4169663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45536" y="4581144"/>
            <a:ext cx="4032503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Client mở tunnel ra ngoài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51192" y="4507992"/>
            <a:ext cx="435254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51775" y="4581144"/>
            <a:ext cx="4215383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Điểm trung gian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84632" y="5129784"/>
            <a:ext cx="252374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5216" y="5202936"/>
            <a:ext cx="238658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ICE / TURN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044952" y="5129784"/>
            <a:ext cx="4169663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45536" y="5202936"/>
            <a:ext cx="4032503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Thử P2P hoặc relay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51192" y="5129784"/>
            <a:ext cx="435254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51775" y="5202936"/>
            <a:ext cx="4215383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8FC"/>
                </a:solidFill>
                <a:latin typeface="Aptos"/>
              </a:defRPr>
            </a:pPr>
            <a:r>
              <a:t>NAT phù hợp / relay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256032"/>
            <a:ext cx="4572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ED3D1"/>
                </a:solidFill>
                <a:latin typeface="Aptos"/>
              </a:defRPr>
            </a:pPr>
            <a:r>
              <a:t>THỰC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03504"/>
            <a:ext cx="1120140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Demo trực tiếp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6501384"/>
            <a:ext cx="11201400" cy="12801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8BACD"/>
                </a:solidFill>
                <a:latin typeface="Aptos"/>
              </a:defRPr>
            </a:pPr>
            <a:r>
              <a:t>OSI • TCP/IP • đường đi gói tin • NAT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029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A8BACD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" y="1399032"/>
            <a:ext cx="2295144" cy="621792"/>
          </a:xfrm>
          <a:prstGeom prst="round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1517904"/>
            <a:ext cx="2176272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3ED3D1"/>
                </a:solidFill>
                <a:latin typeface="Aptos"/>
              </a:defRPr>
            </a:pPr>
            <a:r>
              <a:t>Mục tiêu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16352" y="1399032"/>
            <a:ext cx="4352544" cy="621792"/>
          </a:xfrm>
          <a:prstGeom prst="round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16936" y="1517904"/>
            <a:ext cx="4233672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3ED3D1"/>
                </a:solidFill>
                <a:latin typeface="Aptos"/>
              </a:defRPr>
            </a:pPr>
            <a:r>
              <a:t>Linux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05472" y="1399032"/>
            <a:ext cx="4398264" cy="621792"/>
          </a:xfrm>
          <a:prstGeom prst="round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06056" y="1517904"/>
            <a:ext cx="4279392" cy="51206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3ED3D1"/>
                </a:solidFill>
                <a:latin typeface="Aptos"/>
              </a:defRPr>
            </a:pPr>
            <a:r>
              <a:t>Windows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2020824"/>
            <a:ext cx="229514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2093976"/>
            <a:ext cx="215798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IP cục bộ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16352" y="2020824"/>
            <a:ext cx="435254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16936" y="2093976"/>
            <a:ext cx="4215383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ip addr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05472" y="2020824"/>
            <a:ext cx="439826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06056" y="2093976"/>
            <a:ext cx="4261103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ipconfig /all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" y="2642616"/>
            <a:ext cx="229514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" y="2715768"/>
            <a:ext cx="215798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Bảng route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16352" y="2642616"/>
            <a:ext cx="435254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16936" y="2715768"/>
            <a:ext cx="4215383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ip route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05472" y="2642616"/>
            <a:ext cx="439826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06056" y="2715768"/>
            <a:ext cx="4261103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route print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" y="3264408"/>
            <a:ext cx="229514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" y="3337560"/>
            <a:ext cx="215798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Neighbor/ARP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16352" y="3264408"/>
            <a:ext cx="435254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16936" y="3337560"/>
            <a:ext cx="4215383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ip neigh / arp -a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05472" y="3264408"/>
            <a:ext cx="439826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06056" y="3337560"/>
            <a:ext cx="4261103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arp -a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4632" y="3886200"/>
            <a:ext cx="229514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" y="3959352"/>
            <a:ext cx="215798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Các hop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16352" y="3886200"/>
            <a:ext cx="435254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16936" y="3959352"/>
            <a:ext cx="4215383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traceroute example.com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05472" y="3886200"/>
            <a:ext cx="4398264" cy="589788"/>
          </a:xfrm>
          <a:prstGeom prst="roundRect">
            <a:avLst/>
          </a:prstGeom>
          <a:solidFill>
            <a:srgbClr val="11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06056" y="3959352"/>
            <a:ext cx="4261103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tracert example.com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" y="4507992"/>
            <a:ext cx="229514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" y="4581144"/>
            <a:ext cx="2157984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IP bên ngoài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816352" y="4507992"/>
            <a:ext cx="435254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16936" y="4581144"/>
            <a:ext cx="4215383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curl -4 https://ifconfig.me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05472" y="4507992"/>
            <a:ext cx="4398264" cy="589788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06056" y="4581144"/>
            <a:ext cx="4261103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curl.exe -4 https://ifconfig.me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256032"/>
            <a:ext cx="4572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ED3D1"/>
                </a:solidFill>
                <a:latin typeface="Aptos"/>
              </a:defRPr>
            </a:pPr>
            <a:r>
              <a:t>BÀI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03504"/>
            <a:ext cx="1120140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Bài tập 5 phút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6501384"/>
            <a:ext cx="11201400" cy="12801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8BACD"/>
                </a:solidFill>
                <a:latin typeface="Aptos"/>
              </a:defRPr>
            </a:pPr>
            <a:r>
              <a:t>OSI • TCP/IP • đường đi gói tin • NAT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029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A8BACD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417320"/>
            <a:ext cx="91440" cy="9144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16736"/>
            <a:ext cx="10789920" cy="1143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EtherType 0x0800 → IP Protocol 17 → UDP dst port 53: ứng dụng nào có thể là?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2606040"/>
            <a:ext cx="91440" cy="9144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05456"/>
            <a:ext cx="10789920" cy="1143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192.168.10.17/26 gửi đến .50 và .90: địa chỉ nào cùng subnet?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3794760"/>
            <a:ext cx="91440" cy="9144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694176"/>
            <a:ext cx="10789920" cy="1143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NAT đổi 192.168.1.10:51514 thành 203.0.113.10:62001: server thấy gì?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4983480"/>
            <a:ext cx="91440" cy="9144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882896"/>
            <a:ext cx="10789920" cy="1143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F5F8FC"/>
                </a:solidFill>
                <a:latin typeface="Aptos"/>
              </a:defRPr>
            </a:pPr>
            <a:r>
              <a:t>Thiết kế cloud gửi lệnh cho thiết bị sau CGNAT, có reconnect và chống lệnh trùng.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256032"/>
            <a:ext cx="4572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ED3D1"/>
                </a:solidFill>
                <a:latin typeface="Aptos"/>
              </a:defRPr>
            </a:pPr>
            <a: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03504"/>
            <a:ext cx="1120140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4 điều cần nhớ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6501384"/>
            <a:ext cx="11201400" cy="12801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8BACD"/>
                </a:solidFill>
                <a:latin typeface="Aptos"/>
              </a:defRPr>
            </a:pPr>
            <a:r>
              <a:t>OSI • TCP/IP • đường đi gói tin • NAT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029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A8BACD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36192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01 — Ranh giới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Socket API là interface lập trình; EtherType/Protocol/port dùng phân kênh.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8483" y="1371600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1364" y="1536192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02 — Địa chỉ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1364" y="2011680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MAC theo liên kết; IP qua mạng; port tìm transport endpoint.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50208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03 — Router + NAT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90288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Router tạo frame mới và giảm TTL; NAT có thể đổi IP/port.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8483" y="3950208"/>
            <a:ext cx="5500116" cy="2377440"/>
          </a:xfrm>
          <a:prstGeom prst="roundRect">
            <a:avLst/>
          </a:prstGeom>
          <a:solidFill>
            <a:srgbClr val="13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1364" y="4114800"/>
            <a:ext cx="5134355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3ED3D1"/>
                </a:solidFill>
                <a:latin typeface="Aptos"/>
              </a:defRPr>
            </a:pPr>
            <a:r>
              <a:t>04 — Cloud → IoT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1364" y="4590288"/>
            <a:ext cx="5134355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C"/>
                </a:solidFill>
                <a:latin typeface="Aptos"/>
              </a:defRPr>
            </a:pPr>
            <a:r>
              <a:t>Dùng kết nối chủ động ra ngoài; duy trì, reconnect, ACK lệnh.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ED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256032"/>
            <a:ext cx="45720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3ED3D1"/>
                </a:solidFill>
                <a:latin typeface="Aptos"/>
              </a:defRPr>
            </a:pPr>
            <a:r>
              <a:t>TÀI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03504"/>
            <a:ext cx="11201400" cy="6126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Tài liệu chuẩn và giáo án đầy đủ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" y="6501384"/>
            <a:ext cx="11201400" cy="12801"/>
          </a:xfrm>
          <a:prstGeom prst="rect">
            <a:avLst/>
          </a:prstGeom>
          <a:solidFill>
            <a:srgbClr val="18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64008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8BACD"/>
                </a:solidFill>
                <a:latin typeface="Aptos"/>
              </a:defRPr>
            </a:pPr>
            <a:r>
              <a:t>OSI • TCP/IP • đường đi gói tin • NAT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37960"/>
            <a:ext cx="50292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A8BACD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10058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3ED3D1"/>
                </a:solidFill>
                <a:latin typeface="Consolas"/>
              </a:defRPr>
            </a:pPr>
            <a:r>
              <a:t>01-outline-mang-may-tinh-osi.md</a:t>
            </a:r>
          </a:p>
          <a:p>
            <a:pPr>
              <a:spcAft>
                <a:spcPts val="700"/>
              </a:spcAft>
              <a:defRPr sz="2200" b="1">
                <a:solidFill>
                  <a:srgbClr val="3ED3D1"/>
                </a:solidFill>
                <a:latin typeface="Consolas"/>
              </a:defRPr>
            </a:pPr>
            <a:r>
              <a:t>02-bai-giang-chi-tiet-mang-may-tinh.md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926080"/>
            <a:ext cx="10698480" cy="10058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F5F8FC"/>
                </a:solidFill>
                <a:latin typeface="Aptos"/>
              </a:defRPr>
            </a:pPr>
            <a:r>
              <a:t>RFC 791 · 826 · 1918 · 3022 · 4787 · 6598 · 8200 · 8445 · 9000 · 9114 · 9293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251960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A8BACD"/>
                </a:solidFill>
                <a:latin typeface="Aptos"/>
              </a:defRPr>
            </a:pPr>
            <a:r>
              <a:t>IANA Service Name and Transport Protocol Port Number Registry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257800"/>
            <a:ext cx="10698480" cy="5486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FC156"/>
                </a:solidFill>
                <a:latin typeface="Aptos"/>
              </a:defRPr>
            </a:pPr>
            <a:r>
              <a:t>Các IP 198.51.100.0/24 và 203.0.113.0/24 trong slide chỉ dùng làm ví dụ.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